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ТАЙМИНГ: слайд висит с 17:45, старт ровно в 18:00.
До старта: Handy запущен и проверен, микрофон работает, агент для демо №2 открыт в соседней вкладке, фоновая музыка играет.
Приветствие — 2 минуты, без долгой самопрезентации: одна фраза о себе и сразу обещание вечера: «через три часа у вас будет первый цифровой сотрудник и план внедрения».
【пометка】 Имя спикера и логотип не добавлены — брифа с брендингом нет, вставить при необходимости.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ТАЙМИНГ: 18:02–18:05.
Хук из видеосценария приглашения. Произнести медленно, выдержать паузу после фразы.
Сразу мостик: «Не верите? Смотрите — прямо сейчас, без слайдов».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ТАЙМИНГ: 18:05–18:12. ДЕМО ИДЁТ ПЕРВЫМ НОМЕРОМ — до любой теории (правило брифа).
Сценарий: зажать хоткей Handy, голосом продиктовать: «Напиши вежливый ответ клиенту, который спрашивает про сроки доставки, и предложи два варианта». Показать, как текст появляется и агент выполняет.
Проговаривать вслух каждое действие. После результата — тишина 3 секунды, пусть зал осознает.
【пометка】 Подготовить запасной вариант: записанный ролик демо на случай отказа микрофона.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ТАЙМИНГ: 18:12–18:13.
Закрепление демо. Источник цифры — видеосценарий приглашения («найму сотрудника за 60 секунд»).
【пометка】 Сверить формулировку с proof-bank: файл не найден в репозитории, цифра взята из masterclass-video-script.md.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ТАЙМИНГ: 18:13–18:15. Пройти за минуту-полторы, не зачитывать каждый пункт.
Обещание: «в 21:00 вы уйдёте с работающим навыком, первым агентом и планом внедрения».
Показать, где перерыв, чтобы зал не ждал его раньше.
【пометка】 Тайминг модулей — по умолчанию (по 20 минут); сверить с брифом NOCHNAYA-SESSIYA.md, когда он появится.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ТАЙМИНГ: 18:15–18:35 (20 минут на модуль 1).
Переход: «То, что вы видели, — не фокус. Разберёмся, кто этот сотрудник и что он умеет».
Полноэкранная сцена Зверограда — дать 2 секунды на разглядывание, не тараторить поверх.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ТАЙМИНГ: 18:16–18:24.
По каждой карточке — микро-история из практики (истории и цифры кейсов — только из proof-bank).
Формулировки — из видеосценария: отвечает клиентам, ведёт заявки в CRM, готовит отчёты и документы.
Акцент: это не «когда-нибудь потом», это работает сегодня.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ТАЙМИНГ: 18:24–18:32.
Снять три главных возражения: «нужны программисты», «это дорого», «это сырое».
«Сотни компаний» — формулировка из видеосценария. 【пометка】 сверить с proof-bank, при наличии точной цифры — заменить.
В конце модуля — вопрос залу: «у кого из вас рутина съедает больше часа в день?» — поднятые руки станут мостиком к М2.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ТАЙМИНГ: 18:32–18:35. Воздушный слайд — дать повисеть.
Цифра из видеосценария приглашения. 【пометка】 сверить с proof-bank.
Шутка-мостик: «единственный сотрудник, который не просится в отпуск в августе».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ТАЙМИНГ: 18:35–18:55.
Переход: «Чтобы командовать цифровым сотрудником, не нужно даже печатать».
Здесь зал впервые повторяет за спикером — убедиться, что у всех установлен Handy (ссылку — в чат заранее).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ТАЙМИНГ: 18:36–18:44. Показать ещё раз медленно, теперь с объяснением каждого шага.
Handy — бесплатное приложение с открытым кодом, распознавание идёт локально на компьютере. 【пометка】 проверить актуальность фактов на handy.computer перед показом.
Подчеркнуть: текст появляется в ЛЮБОМ окне — почта, мессенджер, CRM, документ.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ТАЙМИНГ: 18:44–18:52. Зал делает вместе со спикером, по одной задаче за раз.
Ходить по залу, помогать тем, у кого не срабатывает хоткей.
Правило вечера: «Сначала мысль — потом клавиша»: сформулируй фразу в голове, затем диктуй без пауз.
Быстрый шеринг: 2–3 участника зачитывают, что получилось.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ТАЙМИНГ: 18:52–18:55.
【пометка】 На слайде сознательно нет цифры скорости: в proof-bank её найти не удалось. Если в proof-bank есть подтверждённое сравнение (например, «в N раз быстрее») — назвать его устно или добавить на слайд.
Мостик к М3: «скорость есть — теперь научимся формулировать так, чтобы агент понимал с первого раза».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ТАЙМИНГ: 18:55–19:15.
Ключевая мысль модуля: промпт — не заклинание, а обычное техзадание сотруднику.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ТАЙМИНГ: 18:56–19:04.
Разобрать каждый элемент на живом примере — том самом письме клиенту из практики М2.
Роль: «ты — менеджер по продажам». Задача: «ответь на вопрос о сроках». Контекст: «доставка 3–5 дней, клиент торопится». Формат: «5 предложений, дружелюбно, без канцелярита».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ТАЙМИНГ: 19:04–19:11. Показать вживую оба промпта и оба результата агента — контраст продаёт формулу лучше слов.
Затем зал переписывает свой промпт из практики М2 по формуле.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ТАЙМИНГ: 19:11–19:15. Итог модуля 3 — одна мысль, без комментариев сверх фразы.
Мостик к М4: «формула есть — пора нанимать первого агента на настоящую работу».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ТАЙМИНГ: 19:15–19:35. Это второе большое демо вечера.
Энергию держать высоко: до перерыва 20 минут, зал уже подустал — больше действия, меньше теории.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ТАЙМИНГ: 19:16–19:22.
Сценарий из видеоприглашения: клиент пишет — агент мгновенно отвечает.
Обязательно проговорить третий шаг: сложное агент передаёт человеку. Это снимает страх «робот нахамит клиенту».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ТАЙМИНГ: 19:22–19:33. ДЕМО №2: живая настройка агента, голосом через Handy.
Взять бизнес добровольца из зала — его частые вопросы, его тон. Так демо становится личным для зала.
Через 4 пункта чек-листа пройти по порядку, каждый диктуется голосом.
【пометка】 Платформа для агента в брифе не указана — выбрать заранее ту, что используется в программе тренинга, и отрепетировать демо.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ТАЙМИНГ: 19:35–19:50, ровно 15 минут — объявить время возврата вслух.
Включить музыку. Остаться у сцены: кулуарные вопросы в перерыве — самые честные.
За 2 минуты до конца перерыва — голосом позвать зал на места.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ТАЙМИНГ: 19:50–20:10.
Рестарт после перерыва — короткий вопрос залу: «что успели обсудить в перерыве?» — 1–2 ответа, и в бой.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ТАЙМИНГ: 19:51–20:02. По каждой карточке — показать готовый пример документа (заготовить заранее).
Типы документов — из видеосценария: отчёты и документы; конкретный список — по умолчанию. 【пометка】 сверить набор с программой тренинга.
Практика: каждый выбирает один документ и диктует промпт для него по формуле М3.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ТАЙМИНГ: 20:02–20:10 (оставшееся время — на практику из предыдущего слайда).
Цифр на слайде нет сознательно: конкретные минуты/часы — только из proof-bank. 【пометка】 при наличии кейса в proof-bank («КП за N минут вместо N часов») — назвать его здесь устно.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ТАЙМИНГ: 20:10–20:30.
Мостик: «агент умеет говорить и писать — теперь научим его вести учёт».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ТАЙМИНГ: 20:11–20:22. Показать на экране реальный сценарий: заявка из мессенджера появляется в CRM (сценарий b-roll из видеоприглашения).
Боль, на которую давим: потерянные заявки и ошибки ручного переноса.
【пометка】 Конкретная CRM для демо в брифе не указана — использовать ту, что в программе тренинга.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ТАЙМИНГ: 20:22–20:30 (запас — на вопросы по модулю).
Одна мысль на слайд. Дать залу примерить на свой поток заявок: «сколько заявок в месяц у вас тонет?» — риторический вопрос.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ТАЙМИНГ: 20:30–20:50. Самый практичный модуль — участники работают со своим бизнесом.
Обещание из приглашения: «уйдёте с готовым планом: что автоматизировать первым и сколько это сэкономит именно вам».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ТАЙМИНГ: 20:31–20:40. Каждый участник письменно (или голосом в заметку) отвечает на три вопроса для 3–5 своих процессов.
Процесс, набравший три «да», — первый кандидат на автоматизацию.
Пройти по залу, помочь 2–3 участникам вслух — их примеры полезны всем.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ТАЙМИНГ: 20:40–20:48. Формула без готовых цифр — каждый подставляет свои: часы на процесс в неделю × ставка в час × 4 недели.
Посчитать вслух на примере добровольца из зала. Его цифра и станет «большой цифрой» этого слайда — живой, а не нарисованной.
【пометка】 Кейсовые цифры экономии со сцены — только из proof-bank; на слайде их нет намеренно.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ТАЙМИНГ: 20:50–20:54. Итог дня — пройтись по четырём пунктам, каждый привязать к моменту вечера («помните, как…»).
Это слайд-зеркало обещания с маршрута вечера: обещали — сделали.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ТАЙМИНГ: 20:54–20:57.
ДЗ маленькое и выполнимое за 20 минут — так его реально сделают.
【пометка】 Время и тема Дня 2 — по умолчанию («завтра, 18:00»); сверить с программой тренинга и брифом.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ТАЙМИНГ: 20:57–21:00. Благодарность, аплодисменты, общее фото на фоне слайда.
Напомнить про ДЗ одной фразой. Финал ровно в 21:00 — уважение ко времени зала тоже продаёт день 2.
【пометка】 Контакты/QR-код для связи не добавлены — брифа с контактами нет; при необходимости вставить на этот слайд.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image" Target="../media/image-3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image" Target="../media/image-3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Salavat3476/1f57893f-24c3-5293-8814-e8366711ff5e/scratchpad/deck/assets/scene-suns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36118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400" kern="0" dirty="0">
                <a:solidFill>
                  <a:srgbClr val="FFC9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ВЕЧЕРНИЙ ИНТЕНСИВ · 18:00–21:00</a:t>
            </a:r>
            <a:endParaRPr lang="en-US" sz="1700" dirty="0"/>
          </a:p>
        </p:txBody>
      </p:sp>
      <p:sp>
        <p:nvSpPr>
          <p:cNvPr id="4" name="Text 1"/>
          <p:cNvSpPr/>
          <p:nvPr/>
        </p:nvSpPr>
        <p:spPr>
          <a:xfrm>
            <a:off x="777240" y="406908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Цифровой сотрудник</a:t>
            </a:r>
            <a:endParaRPr lang="en-US" sz="6000" dirty="0"/>
          </a:p>
        </p:txBody>
      </p:sp>
      <p:sp>
        <p:nvSpPr>
          <p:cNvPr id="5" name="Text 2"/>
          <p:cNvSpPr/>
          <p:nvPr/>
        </p:nvSpPr>
        <p:spPr>
          <a:xfrm>
            <a:off x="777240" y="534924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E4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День 1 · 7 модулей · ваш первый ИИ-агент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50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Salavat3476/1f57893f-24c3-5293-8814-e8366711ff5e/scratchpad/deck/assets/strip.png">    </p:cNvPr>
          <p:cNvPicPr>
            <a:picLocks noChangeAspect="1"/>
          </p:cNvPicPr>
          <p:nvPr/>
        </p:nvPicPr>
        <p:blipFill>
          <a:blip r:embed="rId1">
            <a:alphaModFix amt="65000"/>
          </a:blip>
          <a:stretch>
            <a:fillRect/>
          </a:stretch>
        </p:blipFill>
        <p:spPr>
          <a:xfrm>
            <a:off x="0" y="5458968"/>
            <a:ext cx="12188952" cy="139903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88720" y="2103120"/>
            <a:ext cx="981151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Сегодня вы наймёте сотрудника,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который работает круглосуточно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 не просит зарплату.</a:t>
            </a:r>
            <a:endParaRPr lang="en-US" sz="3600" dirty="0"/>
          </a:p>
        </p:txBody>
      </p:sp>
      <p:sp>
        <p:nvSpPr>
          <p:cNvPr id="4" name="Text 1"/>
          <p:cNvSpPr/>
          <p:nvPr/>
        </p:nvSpPr>
        <p:spPr>
          <a:xfrm>
            <a:off x="1828800" y="4114800"/>
            <a:ext cx="8531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FFC9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 он выйдет на работу ещё до конца вечера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1C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Демо №1: ставлю задачу голосом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640080" y="1600200"/>
            <a:ext cx="3419856" cy="3200400"/>
          </a:xfrm>
          <a:prstGeom prst="roundRect">
            <a:avLst>
              <a:gd name="adj" fmla="val 3429"/>
            </a:avLst>
          </a:prstGeom>
          <a:solidFill>
            <a:srgbClr val="F5F3FB"/>
          </a:solidFill>
          <a:ln/>
          <a:effectLst>
            <a:outerShdw sx="100000" sy="100000" kx="0" ky="0" algn="bl" rotWithShape="0" blurRad="101600" dist="38100" dir="5400000">
              <a:srgbClr val="3A2E5F">
                <a:alpha val="1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960120" y="1920240"/>
            <a:ext cx="685800" cy="685800"/>
          </a:xfrm>
          <a:prstGeom prst="ellipse">
            <a:avLst/>
          </a:prstGeom>
          <a:solidFill>
            <a:srgbClr val="FF7A3D"/>
          </a:solidFill>
          <a:ln/>
        </p:spPr>
      </p:sp>
      <p:pic>
        <p:nvPicPr>
          <p:cNvPr id="6" name="Image 0" descr="/tmp/claude-0/-home-user-Salavat3476/1f57893f-24c3-5293-8814-e8366711ff5e/scratchpad/deck/assets/icon-key-FFFF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5286" y="2105406"/>
            <a:ext cx="315468" cy="31546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60120" y="2770632"/>
            <a:ext cx="27797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1C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Зажал клавишу — говорю</a:t>
            </a:r>
            <a:endParaRPr lang="en-US" sz="1700" dirty="0"/>
          </a:p>
        </p:txBody>
      </p:sp>
      <p:sp>
        <p:nvSpPr>
          <p:cNvPr id="8" name="Text 4"/>
          <p:cNvSpPr/>
          <p:nvPr/>
        </p:nvSpPr>
        <p:spPr>
          <a:xfrm>
            <a:off x="960120" y="3429000"/>
            <a:ext cx="27797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обычная человеческая речь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4005072" y="2834640"/>
            <a:ext cx="4297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7A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600" dirty="0"/>
          </a:p>
        </p:txBody>
      </p:sp>
      <p:sp>
        <p:nvSpPr>
          <p:cNvPr id="10" name="Shape 6"/>
          <p:cNvSpPr/>
          <p:nvPr/>
        </p:nvSpPr>
        <p:spPr>
          <a:xfrm>
            <a:off x="4379976" y="1600200"/>
            <a:ext cx="3419856" cy="3200400"/>
          </a:xfrm>
          <a:prstGeom prst="roundRect">
            <a:avLst>
              <a:gd name="adj" fmla="val 3429"/>
            </a:avLst>
          </a:prstGeom>
          <a:solidFill>
            <a:srgbClr val="F5F3FB"/>
          </a:solidFill>
          <a:ln/>
          <a:effectLst>
            <a:outerShdw sx="100000" sy="100000" kx="0" ky="0" algn="bl" rotWithShape="0" blurRad="101600" dist="38100" dir="5400000">
              <a:srgbClr val="3A2E5F">
                <a:alpha val="18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700016" y="1920240"/>
            <a:ext cx="685800" cy="685800"/>
          </a:xfrm>
          <a:prstGeom prst="ellipse">
            <a:avLst/>
          </a:prstGeom>
          <a:solidFill>
            <a:srgbClr val="17B8A6"/>
          </a:solidFill>
          <a:ln/>
        </p:spPr>
      </p:sp>
      <p:pic>
        <p:nvPicPr>
          <p:cNvPr id="12" name="Image 1" descr="/tmp/claude-0/-home-user-Salavat3476/1f57893f-24c3-5293-8814-e8366711ff5e/scratchpad/deck/assets/icon-mic-FFFFF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5182" y="2105406"/>
            <a:ext cx="315468" cy="31546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4700016" y="2770632"/>
            <a:ext cx="27797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1C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Handy превращает речь в текст</a:t>
            </a:r>
            <a:endParaRPr lang="en-US" sz="1700" dirty="0"/>
          </a:p>
        </p:txBody>
      </p:sp>
      <p:sp>
        <p:nvSpPr>
          <p:cNvPr id="14" name="Text 9"/>
          <p:cNvSpPr/>
          <p:nvPr/>
        </p:nvSpPr>
        <p:spPr>
          <a:xfrm>
            <a:off x="4700016" y="3429000"/>
            <a:ext cx="27797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мгновенно, в любом окне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7744968" y="2834640"/>
            <a:ext cx="4297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7A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600" dirty="0"/>
          </a:p>
        </p:txBody>
      </p:sp>
      <p:sp>
        <p:nvSpPr>
          <p:cNvPr id="16" name="Shape 11"/>
          <p:cNvSpPr/>
          <p:nvPr/>
        </p:nvSpPr>
        <p:spPr>
          <a:xfrm>
            <a:off x="8119872" y="1600200"/>
            <a:ext cx="3419856" cy="3200400"/>
          </a:xfrm>
          <a:prstGeom prst="roundRect">
            <a:avLst>
              <a:gd name="adj" fmla="val 3429"/>
            </a:avLst>
          </a:prstGeom>
          <a:solidFill>
            <a:srgbClr val="F5F3FB"/>
          </a:solidFill>
          <a:ln/>
          <a:effectLst>
            <a:outerShdw sx="100000" sy="100000" kx="0" ky="0" algn="bl" rotWithShape="0" blurRad="101600" dist="38100" dir="5400000">
              <a:srgbClr val="3A2E5F">
                <a:alpha val="18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439912" y="1920240"/>
            <a:ext cx="685800" cy="685800"/>
          </a:xfrm>
          <a:prstGeom prst="ellipse">
            <a:avLst/>
          </a:prstGeom>
          <a:solidFill>
            <a:srgbClr val="241C40"/>
          </a:solidFill>
          <a:ln/>
        </p:spPr>
      </p:sp>
      <p:pic>
        <p:nvPicPr>
          <p:cNvPr id="18" name="Image 2" descr="/tmp/claude-0/-home-user-Salavat3476/1f57893f-24c3-5293-8814-e8366711ff5e/scratchpad/deck/assets/icon-robot-FFFFF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5078" y="2105406"/>
            <a:ext cx="315468" cy="315468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8439912" y="2770632"/>
            <a:ext cx="27797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1C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Агент выполняет</a:t>
            </a:r>
            <a:endParaRPr lang="en-US" sz="1700" dirty="0"/>
          </a:p>
        </p:txBody>
      </p:sp>
      <p:sp>
        <p:nvSpPr>
          <p:cNvPr id="20" name="Text 14"/>
          <p:cNvSpPr/>
          <p:nvPr/>
        </p:nvSpPr>
        <p:spPr>
          <a:xfrm>
            <a:off x="8439912" y="3429000"/>
            <a:ext cx="27797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результат — у вас на глазах</a:t>
            </a:r>
            <a:endParaRPr lang="en-US" sz="1300" dirty="0"/>
          </a:p>
        </p:txBody>
      </p:sp>
      <p:sp>
        <p:nvSpPr>
          <p:cNvPr id="21" name="Text 15"/>
          <p:cNvSpPr/>
          <p:nvPr/>
        </p:nvSpPr>
        <p:spPr>
          <a:xfrm>
            <a:off x="640080" y="525780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6E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Без монтажа. Без заготовок. Вживую.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50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Salavat3476/1f57893f-24c3-5293-8814-e8366711ff5e/scratchpad/deck/assets/strip.png">    </p:cNvPr>
          <p:cNvPicPr>
            <a:picLocks noChangeAspect="1"/>
          </p:cNvPicPr>
          <p:nvPr/>
        </p:nvPicPr>
        <p:blipFill>
          <a:blip r:embed="rId1">
            <a:alphaModFix amt="65000"/>
          </a:blip>
          <a:stretch>
            <a:fillRect/>
          </a:stretch>
        </p:blipFill>
        <p:spPr>
          <a:xfrm>
            <a:off x="0" y="5458968"/>
            <a:ext cx="12188952" cy="139903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600200"/>
            <a:ext cx="1090879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FF7A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 секунд</a:t>
            </a:r>
            <a:endParaRPr lang="en-US" sz="8400" dirty="0"/>
          </a:p>
        </p:txBody>
      </p:sp>
      <p:sp>
        <p:nvSpPr>
          <p:cNvPr id="4" name="Text 1"/>
          <p:cNvSpPr/>
          <p:nvPr/>
        </p:nvSpPr>
        <p:spPr>
          <a:xfrm>
            <a:off x="1463040" y="3749040"/>
            <a:ext cx="9262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 голосовой команды — до готового результата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1463040" y="4434840"/>
            <a:ext cx="9262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8B0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 только что видели это сами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1C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Маршрут вечера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822960" y="1673352"/>
            <a:ext cx="201168" cy="201168"/>
          </a:xfrm>
          <a:prstGeom prst="ellipse">
            <a:avLst/>
          </a:prstGeom>
          <a:solidFill>
            <a:srgbClr val="FF7A3D"/>
          </a:solidFill>
          <a:ln/>
        </p:spPr>
      </p:sp>
      <p:sp>
        <p:nvSpPr>
          <p:cNvPr id="5" name="Text 2"/>
          <p:cNvSpPr/>
          <p:nvPr/>
        </p:nvSpPr>
        <p:spPr>
          <a:xfrm>
            <a:off x="1207008" y="1554480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7A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18:00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2240280" y="155448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1C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Старт и демо голосом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822960" y="2606040"/>
            <a:ext cx="201168" cy="201168"/>
          </a:xfrm>
          <a:prstGeom prst="ellipse">
            <a:avLst/>
          </a:prstGeom>
          <a:solidFill>
            <a:srgbClr val="FF7A3D"/>
          </a:solidFill>
          <a:ln/>
        </p:spPr>
      </p:sp>
      <p:sp>
        <p:nvSpPr>
          <p:cNvPr id="8" name="Text 5"/>
          <p:cNvSpPr/>
          <p:nvPr/>
        </p:nvSpPr>
        <p:spPr>
          <a:xfrm>
            <a:off x="1207008" y="2487168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7A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18:15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2240280" y="248716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1C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М1 · Цифровой сотрудник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822960" y="3538728"/>
            <a:ext cx="201168" cy="201168"/>
          </a:xfrm>
          <a:prstGeom prst="ellipse">
            <a:avLst/>
          </a:prstGeom>
          <a:solidFill>
            <a:srgbClr val="FF7A3D"/>
          </a:solidFill>
          <a:ln/>
        </p:spPr>
      </p:sp>
      <p:sp>
        <p:nvSpPr>
          <p:cNvPr id="11" name="Text 8"/>
          <p:cNvSpPr/>
          <p:nvPr/>
        </p:nvSpPr>
        <p:spPr>
          <a:xfrm>
            <a:off x="1207008" y="3419856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7A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18:35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2240280" y="3419856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1C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М2 · Голос вместо клавиатуры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822960" y="4471416"/>
            <a:ext cx="201168" cy="201168"/>
          </a:xfrm>
          <a:prstGeom prst="ellipse">
            <a:avLst/>
          </a:prstGeom>
          <a:solidFill>
            <a:srgbClr val="FF7A3D"/>
          </a:solidFill>
          <a:ln/>
        </p:spPr>
      </p:sp>
      <p:sp>
        <p:nvSpPr>
          <p:cNvPr id="14" name="Text 11"/>
          <p:cNvSpPr/>
          <p:nvPr/>
        </p:nvSpPr>
        <p:spPr>
          <a:xfrm>
            <a:off x="1207008" y="4352544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7A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18:55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2240280" y="4352544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1C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М3 · Промпт = ТЗ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822960" y="5404104"/>
            <a:ext cx="201168" cy="201168"/>
          </a:xfrm>
          <a:prstGeom prst="ellipse">
            <a:avLst/>
          </a:prstGeom>
          <a:solidFill>
            <a:srgbClr val="FF7A3D"/>
          </a:solidFill>
          <a:ln/>
        </p:spPr>
      </p:sp>
      <p:sp>
        <p:nvSpPr>
          <p:cNvPr id="17" name="Text 14"/>
          <p:cNvSpPr/>
          <p:nvPr/>
        </p:nvSpPr>
        <p:spPr>
          <a:xfrm>
            <a:off x="1207008" y="5285232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7A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19:15</a:t>
            </a:r>
            <a:endParaRPr lang="en-US" sz="1700" dirty="0"/>
          </a:p>
        </p:txBody>
      </p:sp>
      <p:sp>
        <p:nvSpPr>
          <p:cNvPr id="18" name="Text 15"/>
          <p:cNvSpPr/>
          <p:nvPr/>
        </p:nvSpPr>
        <p:spPr>
          <a:xfrm>
            <a:off x="2240280" y="528523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1C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М4 · Агент для клиентов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6492240" y="1673352"/>
            <a:ext cx="201168" cy="201168"/>
          </a:xfrm>
          <a:prstGeom prst="ellipse">
            <a:avLst/>
          </a:prstGeom>
          <a:solidFill>
            <a:srgbClr val="FFC94D"/>
          </a:solidFill>
          <a:ln/>
        </p:spPr>
      </p:sp>
      <p:sp>
        <p:nvSpPr>
          <p:cNvPr id="20" name="Text 17"/>
          <p:cNvSpPr/>
          <p:nvPr/>
        </p:nvSpPr>
        <p:spPr>
          <a:xfrm>
            <a:off x="6876288" y="1554480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19:35</a:t>
            </a:r>
            <a:endParaRPr lang="en-US" sz="1700" dirty="0"/>
          </a:p>
        </p:txBody>
      </p:sp>
      <p:sp>
        <p:nvSpPr>
          <p:cNvPr id="21" name="Text 18"/>
          <p:cNvSpPr/>
          <p:nvPr/>
        </p:nvSpPr>
        <p:spPr>
          <a:xfrm>
            <a:off x="7909560" y="155448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1C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Перерыв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6492240" y="2606040"/>
            <a:ext cx="201168" cy="201168"/>
          </a:xfrm>
          <a:prstGeom prst="ellipse">
            <a:avLst/>
          </a:prstGeom>
          <a:solidFill>
            <a:srgbClr val="FF7A3D"/>
          </a:solidFill>
          <a:ln/>
        </p:spPr>
      </p:sp>
      <p:sp>
        <p:nvSpPr>
          <p:cNvPr id="23" name="Text 20"/>
          <p:cNvSpPr/>
          <p:nvPr/>
        </p:nvSpPr>
        <p:spPr>
          <a:xfrm>
            <a:off x="6876288" y="2487168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7A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19:50</a:t>
            </a:r>
            <a:endParaRPr lang="en-US" sz="1700" dirty="0"/>
          </a:p>
        </p:txBody>
      </p:sp>
      <p:sp>
        <p:nvSpPr>
          <p:cNvPr id="24" name="Text 21"/>
          <p:cNvSpPr/>
          <p:nvPr/>
        </p:nvSpPr>
        <p:spPr>
          <a:xfrm>
            <a:off x="7909560" y="248716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1C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М5 · Документы и отчёты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6492240" y="3538728"/>
            <a:ext cx="201168" cy="201168"/>
          </a:xfrm>
          <a:prstGeom prst="ellipse">
            <a:avLst/>
          </a:prstGeom>
          <a:solidFill>
            <a:srgbClr val="FF7A3D"/>
          </a:solidFill>
          <a:ln/>
        </p:spPr>
      </p:sp>
      <p:sp>
        <p:nvSpPr>
          <p:cNvPr id="26" name="Text 23"/>
          <p:cNvSpPr/>
          <p:nvPr/>
        </p:nvSpPr>
        <p:spPr>
          <a:xfrm>
            <a:off x="6876288" y="3419856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7A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20:10</a:t>
            </a:r>
            <a:endParaRPr lang="en-US" sz="1700" dirty="0"/>
          </a:p>
        </p:txBody>
      </p:sp>
      <p:sp>
        <p:nvSpPr>
          <p:cNvPr id="27" name="Text 24"/>
          <p:cNvSpPr/>
          <p:nvPr/>
        </p:nvSpPr>
        <p:spPr>
          <a:xfrm>
            <a:off x="7909560" y="3419856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1C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М6 · Заявки и CRM</a:t>
            </a:r>
            <a:endParaRPr lang="en-US" sz="1600" dirty="0"/>
          </a:p>
        </p:txBody>
      </p:sp>
      <p:sp>
        <p:nvSpPr>
          <p:cNvPr id="28" name="Shape 25"/>
          <p:cNvSpPr/>
          <p:nvPr/>
        </p:nvSpPr>
        <p:spPr>
          <a:xfrm>
            <a:off x="6492240" y="4471416"/>
            <a:ext cx="201168" cy="201168"/>
          </a:xfrm>
          <a:prstGeom prst="ellipse">
            <a:avLst/>
          </a:prstGeom>
          <a:solidFill>
            <a:srgbClr val="FF7A3D"/>
          </a:solidFill>
          <a:ln/>
        </p:spPr>
      </p:sp>
      <p:sp>
        <p:nvSpPr>
          <p:cNvPr id="29" name="Text 26"/>
          <p:cNvSpPr/>
          <p:nvPr/>
        </p:nvSpPr>
        <p:spPr>
          <a:xfrm>
            <a:off x="6876288" y="4352544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7A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20:30</a:t>
            </a:r>
            <a:endParaRPr lang="en-US" sz="1700" dirty="0"/>
          </a:p>
        </p:txBody>
      </p:sp>
      <p:sp>
        <p:nvSpPr>
          <p:cNvPr id="30" name="Text 27"/>
          <p:cNvSpPr/>
          <p:nvPr/>
        </p:nvSpPr>
        <p:spPr>
          <a:xfrm>
            <a:off x="7909560" y="4352544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1C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М7 · План внедрения</a:t>
            </a:r>
            <a:endParaRPr lang="en-US" sz="1600" dirty="0"/>
          </a:p>
        </p:txBody>
      </p:sp>
      <p:sp>
        <p:nvSpPr>
          <p:cNvPr id="31" name="Shape 28"/>
          <p:cNvSpPr/>
          <p:nvPr/>
        </p:nvSpPr>
        <p:spPr>
          <a:xfrm>
            <a:off x="6492240" y="5404104"/>
            <a:ext cx="201168" cy="201168"/>
          </a:xfrm>
          <a:prstGeom prst="ellipse">
            <a:avLst/>
          </a:prstGeom>
          <a:solidFill>
            <a:srgbClr val="FF7A3D"/>
          </a:solidFill>
          <a:ln/>
        </p:spPr>
      </p:sp>
      <p:sp>
        <p:nvSpPr>
          <p:cNvPr id="32" name="Text 29"/>
          <p:cNvSpPr/>
          <p:nvPr/>
        </p:nvSpPr>
        <p:spPr>
          <a:xfrm>
            <a:off x="6876288" y="5285232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7A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20:50</a:t>
            </a:r>
            <a:endParaRPr lang="en-US" sz="1700" dirty="0"/>
          </a:p>
        </p:txBody>
      </p:sp>
      <p:sp>
        <p:nvSpPr>
          <p:cNvPr id="33" name="Text 30"/>
          <p:cNvSpPr/>
          <p:nvPr/>
        </p:nvSpPr>
        <p:spPr>
          <a:xfrm>
            <a:off x="7909560" y="528523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1C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Итоги и ДЗ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Salavat3476/1f57893f-24c3-5293-8814-e8366711ff5e/scratchpad/deck/assets/scene-indi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416052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400" kern="0" dirty="0">
                <a:solidFill>
                  <a:srgbClr val="FFC9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МОДУЛЬ 1 · 18:15</a:t>
            </a:r>
            <a:endParaRPr lang="en-US" sz="1700" dirty="0"/>
          </a:p>
        </p:txBody>
      </p:sp>
      <p:sp>
        <p:nvSpPr>
          <p:cNvPr id="4" name="Text 1"/>
          <p:cNvSpPr/>
          <p:nvPr/>
        </p:nvSpPr>
        <p:spPr>
          <a:xfrm>
            <a:off x="777240" y="4572000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Знакомьтесь: цифровой сотрудник</a:t>
            </a:r>
            <a:endParaRPr lang="en-US" sz="4200" dirty="0"/>
          </a:p>
        </p:txBody>
      </p:sp>
      <p:sp>
        <p:nvSpPr>
          <p:cNvPr id="5" name="Text 2"/>
          <p:cNvSpPr/>
          <p:nvPr/>
        </p:nvSpPr>
        <p:spPr>
          <a:xfrm>
            <a:off x="777240" y="562356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4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кто он и почему появился именно сейчас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1C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он умеет уже сегодня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640080" y="1600200"/>
            <a:ext cx="3419856" cy="3200400"/>
          </a:xfrm>
          <a:prstGeom prst="roundRect">
            <a:avLst>
              <a:gd name="adj" fmla="val 3429"/>
            </a:avLst>
          </a:prstGeom>
          <a:solidFill>
            <a:srgbClr val="F5F3FB"/>
          </a:solidFill>
          <a:ln/>
          <a:effectLst>
            <a:outerShdw sx="100000" sy="100000" kx="0" ky="0" algn="bl" rotWithShape="0" blurRad="101600" dist="38100" dir="5400000">
              <a:srgbClr val="3A2E5F">
                <a:alpha val="1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960120" y="1920240"/>
            <a:ext cx="685800" cy="685800"/>
          </a:xfrm>
          <a:prstGeom prst="ellipse">
            <a:avLst/>
          </a:prstGeom>
          <a:solidFill>
            <a:srgbClr val="FF7A3D"/>
          </a:solidFill>
          <a:ln/>
        </p:spPr>
      </p:sp>
      <p:pic>
        <p:nvPicPr>
          <p:cNvPr id="6" name="Image 0" descr="/tmp/claude-0/-home-user-Salavat3476/1f57893f-24c3-5293-8814-e8366711ff5e/scratchpad/deck/assets/icon-chat-FFFF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5286" y="2105406"/>
            <a:ext cx="315468" cy="31546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60120" y="2770632"/>
            <a:ext cx="27797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1C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Отвечает клиентам</a:t>
            </a:r>
            <a:endParaRPr lang="en-US" sz="1700" dirty="0"/>
          </a:p>
        </p:txBody>
      </p:sp>
      <p:sp>
        <p:nvSpPr>
          <p:cNvPr id="8" name="Text 4"/>
          <p:cNvSpPr/>
          <p:nvPr/>
        </p:nvSpPr>
        <p:spPr>
          <a:xfrm>
            <a:off x="960120" y="3429000"/>
            <a:ext cx="27797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мессенджерах, мгновенно, в тоне бренда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4379976" y="1600200"/>
            <a:ext cx="3419856" cy="3200400"/>
          </a:xfrm>
          <a:prstGeom prst="roundRect">
            <a:avLst>
              <a:gd name="adj" fmla="val 3429"/>
            </a:avLst>
          </a:prstGeom>
          <a:solidFill>
            <a:srgbClr val="F5F3FB"/>
          </a:solidFill>
          <a:ln/>
          <a:effectLst>
            <a:outerShdw sx="100000" sy="100000" kx="0" ky="0" algn="bl" rotWithShape="0" blurRad="101600" dist="38100" dir="5400000">
              <a:srgbClr val="3A2E5F">
                <a:alpha val="1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4700016" y="1920240"/>
            <a:ext cx="685800" cy="685800"/>
          </a:xfrm>
          <a:prstGeom prst="ellipse">
            <a:avLst/>
          </a:prstGeom>
          <a:solidFill>
            <a:srgbClr val="17B8A6"/>
          </a:solidFill>
          <a:ln/>
        </p:spPr>
      </p:sp>
      <p:pic>
        <p:nvPicPr>
          <p:cNvPr id="11" name="Image 1" descr="/tmp/claude-0/-home-user-Salavat3476/1f57893f-24c3-5293-8814-e8366711ff5e/scratchpad/deck/assets/icon-db-FFFFF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5182" y="2105406"/>
            <a:ext cx="315468" cy="31546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4700016" y="2770632"/>
            <a:ext cx="27797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1C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Ведёт заявки в CRM</a:t>
            </a:r>
            <a:endParaRPr lang="en-US" sz="1700" dirty="0"/>
          </a:p>
        </p:txBody>
      </p:sp>
      <p:sp>
        <p:nvSpPr>
          <p:cNvPr id="13" name="Text 8"/>
          <p:cNvSpPr/>
          <p:nvPr/>
        </p:nvSpPr>
        <p:spPr>
          <a:xfrm>
            <a:off x="4700016" y="3429000"/>
            <a:ext cx="27797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принимает, заполняет, ничего не забывает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8119872" y="1600200"/>
            <a:ext cx="3419856" cy="3200400"/>
          </a:xfrm>
          <a:prstGeom prst="roundRect">
            <a:avLst>
              <a:gd name="adj" fmla="val 3429"/>
            </a:avLst>
          </a:prstGeom>
          <a:solidFill>
            <a:srgbClr val="F5F3FB"/>
          </a:solidFill>
          <a:ln/>
          <a:effectLst>
            <a:outerShdw sx="100000" sy="100000" kx="0" ky="0" algn="bl" rotWithShape="0" blurRad="101600" dist="38100" dir="5400000">
              <a:srgbClr val="3A2E5F">
                <a:alpha val="18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8439912" y="1920240"/>
            <a:ext cx="685800" cy="685800"/>
          </a:xfrm>
          <a:prstGeom prst="ellipse">
            <a:avLst/>
          </a:prstGeom>
          <a:solidFill>
            <a:srgbClr val="241C40"/>
          </a:solidFill>
          <a:ln/>
        </p:spPr>
      </p:sp>
      <p:pic>
        <p:nvPicPr>
          <p:cNvPr id="16" name="Image 2" descr="/tmp/claude-0/-home-user-Salavat3476/1f57893f-24c3-5293-8814-e8366711ff5e/scratchpad/deck/assets/icon-doc-FFFFF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5078" y="2105406"/>
            <a:ext cx="315468" cy="315468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8439912" y="2770632"/>
            <a:ext cx="27797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1C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Готовит отчёты и документы</a:t>
            </a:r>
            <a:endParaRPr lang="en-US" sz="1700" dirty="0"/>
          </a:p>
        </p:txBody>
      </p:sp>
      <p:sp>
        <p:nvSpPr>
          <p:cNvPr id="18" name="Text 12"/>
          <p:cNvSpPr/>
          <p:nvPr/>
        </p:nvSpPr>
        <p:spPr>
          <a:xfrm>
            <a:off x="8439912" y="3429000"/>
            <a:ext cx="27797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шаблону, без напоминаний</a:t>
            </a:r>
            <a:endParaRPr lang="en-US" sz="1300" dirty="0"/>
          </a:p>
        </p:txBody>
      </p:sp>
      <p:sp>
        <p:nvSpPr>
          <p:cNvPr id="19" name="Text 13"/>
          <p:cNvSpPr/>
          <p:nvPr/>
        </p:nvSpPr>
        <p:spPr>
          <a:xfrm>
            <a:off x="640080" y="525780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6E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 минуты — а не за часы.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1C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Почему это доступно каждому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822960" y="1600200"/>
            <a:ext cx="10515600" cy="1234440"/>
          </a:xfrm>
          <a:prstGeom prst="roundRect">
            <a:avLst>
              <a:gd name="adj" fmla="val 7407"/>
            </a:avLst>
          </a:prstGeom>
          <a:solidFill>
            <a:srgbClr val="F5F3FB"/>
          </a:solidFill>
          <a:ln/>
        </p:spPr>
      </p:sp>
      <p:sp>
        <p:nvSpPr>
          <p:cNvPr id="5" name="Shape 2"/>
          <p:cNvSpPr/>
          <p:nvPr/>
        </p:nvSpPr>
        <p:spPr>
          <a:xfrm>
            <a:off x="1097280" y="1874520"/>
            <a:ext cx="685800" cy="685800"/>
          </a:xfrm>
          <a:prstGeom prst="ellipse">
            <a:avLst/>
          </a:prstGeom>
          <a:solidFill>
            <a:srgbClr val="FF7A3D"/>
          </a:solidFill>
          <a:ln/>
        </p:spPr>
      </p:sp>
      <p:pic>
        <p:nvPicPr>
          <p:cNvPr id="6" name="Image 0" descr="/tmp/claude-0/-home-user-Salavat3476/1f57893f-24c3-5293-8814-e8366711ff5e/scratchpad/deck/assets/icon-user-FFFF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2446" y="2059686"/>
            <a:ext cx="315468" cy="31546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2148840" y="1801368"/>
            <a:ext cx="8778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41C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Без программистов</a:t>
            </a:r>
            <a:endParaRPr lang="en-US" sz="1800" dirty="0"/>
          </a:p>
        </p:txBody>
      </p:sp>
      <p:sp>
        <p:nvSpPr>
          <p:cNvPr id="8" name="Text 4"/>
          <p:cNvSpPr/>
          <p:nvPr/>
        </p:nvSpPr>
        <p:spPr>
          <a:xfrm>
            <a:off x="2148840" y="2258568"/>
            <a:ext cx="8778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настраивается словами, а не кодом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822960" y="3108960"/>
            <a:ext cx="10515600" cy="1234440"/>
          </a:xfrm>
          <a:prstGeom prst="roundRect">
            <a:avLst>
              <a:gd name="adj" fmla="val 7407"/>
            </a:avLst>
          </a:prstGeom>
          <a:solidFill>
            <a:srgbClr val="F5F3FB"/>
          </a:solidFill>
          <a:ln/>
        </p:spPr>
      </p:sp>
      <p:sp>
        <p:nvSpPr>
          <p:cNvPr id="10" name="Shape 6"/>
          <p:cNvSpPr/>
          <p:nvPr/>
        </p:nvSpPr>
        <p:spPr>
          <a:xfrm>
            <a:off x="1097280" y="3383280"/>
            <a:ext cx="685800" cy="685800"/>
          </a:xfrm>
          <a:prstGeom prst="ellipse">
            <a:avLst/>
          </a:prstGeom>
          <a:solidFill>
            <a:srgbClr val="17B8A6"/>
          </a:solidFill>
          <a:ln/>
        </p:spPr>
      </p:sp>
      <p:pic>
        <p:nvPicPr>
          <p:cNvPr id="11" name="Image 1" descr="/tmp/claude-0/-home-user-Salavat3476/1f57893f-24c3-5293-8814-e8366711ff5e/scratchpad/deck/assets/icon-calc-FFFFF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2446" y="3568446"/>
            <a:ext cx="315468" cy="31546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2148840" y="3310128"/>
            <a:ext cx="8778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41C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Без миллионных бюджетов</a:t>
            </a:r>
            <a:endParaRPr lang="en-US" sz="1800" dirty="0"/>
          </a:p>
        </p:txBody>
      </p:sp>
      <p:sp>
        <p:nvSpPr>
          <p:cNvPr id="13" name="Text 8"/>
          <p:cNvSpPr/>
          <p:nvPr/>
        </p:nvSpPr>
        <p:spPr>
          <a:xfrm>
            <a:off x="2148840" y="3767328"/>
            <a:ext cx="8778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дешевле стажёра</a:t>
            </a:r>
            <a:endParaRPr lang="en-US" sz="1400" dirty="0"/>
          </a:p>
        </p:txBody>
      </p:sp>
      <p:sp>
        <p:nvSpPr>
          <p:cNvPr id="14" name="Shape 9"/>
          <p:cNvSpPr/>
          <p:nvPr/>
        </p:nvSpPr>
        <p:spPr>
          <a:xfrm>
            <a:off x="822960" y="4617720"/>
            <a:ext cx="10515600" cy="1234440"/>
          </a:xfrm>
          <a:prstGeom prst="roundRect">
            <a:avLst>
              <a:gd name="adj" fmla="val 7407"/>
            </a:avLst>
          </a:prstGeom>
          <a:solidFill>
            <a:srgbClr val="F5F3FB"/>
          </a:solidFill>
          <a:ln/>
        </p:spPr>
      </p:sp>
      <p:sp>
        <p:nvSpPr>
          <p:cNvPr id="15" name="Shape 10"/>
          <p:cNvSpPr/>
          <p:nvPr/>
        </p:nvSpPr>
        <p:spPr>
          <a:xfrm>
            <a:off x="1097280" y="4892040"/>
            <a:ext cx="685800" cy="685800"/>
          </a:xfrm>
          <a:prstGeom prst="ellipse">
            <a:avLst/>
          </a:prstGeom>
          <a:solidFill>
            <a:srgbClr val="241C40"/>
          </a:solidFill>
          <a:ln/>
        </p:spPr>
      </p:sp>
      <p:pic>
        <p:nvPicPr>
          <p:cNvPr id="16" name="Image 2" descr="/tmp/claude-0/-home-user-Salavat3476/1f57893f-24c3-5293-8814-e8366711ff5e/scratchpad/deck/assets/icon-rocket-FFFFF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2446" y="5077206"/>
            <a:ext cx="315468" cy="315468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2148840" y="4818888"/>
            <a:ext cx="8778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41C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Уже работает в сотнях компаний</a:t>
            </a:r>
            <a:endParaRPr lang="en-US" sz="1800" dirty="0"/>
          </a:p>
        </p:txBody>
      </p:sp>
      <p:sp>
        <p:nvSpPr>
          <p:cNvPr id="18" name="Text 12"/>
          <p:cNvSpPr/>
          <p:nvPr/>
        </p:nvSpPr>
        <p:spPr>
          <a:xfrm>
            <a:off x="2148840" y="5276088"/>
            <a:ext cx="8778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это не эксперимент, а практика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50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Salavat3476/1f57893f-24c3-5293-8814-e8366711ff5e/scratchpad/deck/assets/strip.png">    </p:cNvPr>
          <p:cNvPicPr>
            <a:picLocks noChangeAspect="1"/>
          </p:cNvPicPr>
          <p:nvPr/>
        </p:nvPicPr>
        <p:blipFill>
          <a:blip r:embed="rId1">
            <a:alphaModFix amt="65000"/>
          </a:blip>
          <a:stretch>
            <a:fillRect/>
          </a:stretch>
        </p:blipFill>
        <p:spPr>
          <a:xfrm>
            <a:off x="0" y="5458968"/>
            <a:ext cx="12188952" cy="139903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600200"/>
            <a:ext cx="1090879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0" b="1" dirty="0">
                <a:solidFill>
                  <a:srgbClr val="FF7A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24/7</a:t>
            </a:r>
            <a:endParaRPr lang="en-US" sz="12000" dirty="0"/>
          </a:p>
        </p:txBody>
      </p:sp>
      <p:sp>
        <p:nvSpPr>
          <p:cNvPr id="4" name="Text 1"/>
          <p:cNvSpPr/>
          <p:nvPr/>
        </p:nvSpPr>
        <p:spPr>
          <a:xfrm>
            <a:off x="1463040" y="3749040"/>
            <a:ext cx="9262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болеет · не выгорает · не уходит в отпуск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Salavat3476/1f57893f-24c3-5293-8814-e8366711ff5e/scratchpad/deck/assets/scene-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416052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400" kern="0" dirty="0">
                <a:solidFill>
                  <a:srgbClr val="FFC9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МОДУЛЬ 2 · 18:35</a:t>
            </a:r>
            <a:endParaRPr lang="en-US" sz="1700" dirty="0"/>
          </a:p>
        </p:txBody>
      </p:sp>
      <p:sp>
        <p:nvSpPr>
          <p:cNvPr id="4" name="Text 1"/>
          <p:cNvSpPr/>
          <p:nvPr/>
        </p:nvSpPr>
        <p:spPr>
          <a:xfrm>
            <a:off x="777240" y="4572000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Голос вместо клавиатуры</a:t>
            </a:r>
            <a:endParaRPr lang="en-US" sz="4200" dirty="0"/>
          </a:p>
        </p:txBody>
      </p:sp>
      <p:sp>
        <p:nvSpPr>
          <p:cNvPr id="5" name="Text 2"/>
          <p:cNvSpPr/>
          <p:nvPr/>
        </p:nvSpPr>
        <p:spPr>
          <a:xfrm>
            <a:off x="777240" y="562356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4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Handy: ставим задачи со скоростью мысли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1C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работает Handy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640080" y="1600200"/>
            <a:ext cx="3419856" cy="3200400"/>
          </a:xfrm>
          <a:prstGeom prst="roundRect">
            <a:avLst>
              <a:gd name="adj" fmla="val 3429"/>
            </a:avLst>
          </a:prstGeom>
          <a:solidFill>
            <a:srgbClr val="F5F3FB"/>
          </a:solidFill>
          <a:ln/>
          <a:effectLst>
            <a:outerShdw sx="100000" sy="100000" kx="0" ky="0" algn="bl" rotWithShape="0" blurRad="101600" dist="38100" dir="5400000">
              <a:srgbClr val="3A2E5F">
                <a:alpha val="1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960120" y="1920240"/>
            <a:ext cx="685800" cy="685800"/>
          </a:xfrm>
          <a:prstGeom prst="ellipse">
            <a:avLst/>
          </a:prstGeom>
          <a:solidFill>
            <a:srgbClr val="FF7A3D"/>
          </a:solidFill>
          <a:ln/>
        </p:spPr>
      </p:sp>
      <p:pic>
        <p:nvPicPr>
          <p:cNvPr id="6" name="Image 0" descr="/tmp/claude-0/-home-user-Salavat3476/1f57893f-24c3-5293-8814-e8366711ff5e/scratchpad/deck/assets/icon-key-FFFF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5286" y="2105406"/>
            <a:ext cx="315468" cy="31546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60120" y="2770632"/>
            <a:ext cx="27797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1C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Зажмите горячую клавишу</a:t>
            </a:r>
            <a:endParaRPr lang="en-US" sz="1700" dirty="0"/>
          </a:p>
        </p:txBody>
      </p:sp>
      <p:sp>
        <p:nvSpPr>
          <p:cNvPr id="8" name="Text 4"/>
          <p:cNvSpPr/>
          <p:nvPr/>
        </p:nvSpPr>
        <p:spPr>
          <a:xfrm>
            <a:off x="960120" y="3429000"/>
            <a:ext cx="27797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любой программе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4379976" y="1600200"/>
            <a:ext cx="3419856" cy="3200400"/>
          </a:xfrm>
          <a:prstGeom prst="roundRect">
            <a:avLst>
              <a:gd name="adj" fmla="val 3429"/>
            </a:avLst>
          </a:prstGeom>
          <a:solidFill>
            <a:srgbClr val="F5F3FB"/>
          </a:solidFill>
          <a:ln/>
          <a:effectLst>
            <a:outerShdw sx="100000" sy="100000" kx="0" ky="0" algn="bl" rotWithShape="0" blurRad="101600" dist="38100" dir="5400000">
              <a:srgbClr val="3A2E5F">
                <a:alpha val="1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4700016" y="1920240"/>
            <a:ext cx="685800" cy="685800"/>
          </a:xfrm>
          <a:prstGeom prst="ellipse">
            <a:avLst/>
          </a:prstGeom>
          <a:solidFill>
            <a:srgbClr val="17B8A6"/>
          </a:solidFill>
          <a:ln/>
        </p:spPr>
      </p:sp>
      <p:pic>
        <p:nvPicPr>
          <p:cNvPr id="11" name="Image 1" descr="/tmp/claude-0/-home-user-Salavat3476/1f57893f-24c3-5293-8814-e8366711ff5e/scratchpad/deck/assets/icon-mic-FFFFF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5182" y="2105406"/>
            <a:ext cx="315468" cy="31546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4700016" y="2770632"/>
            <a:ext cx="27797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1C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Скажите мысль вслух</a:t>
            </a:r>
            <a:endParaRPr lang="en-US" sz="1700" dirty="0"/>
          </a:p>
        </p:txBody>
      </p:sp>
      <p:sp>
        <p:nvSpPr>
          <p:cNvPr id="13" name="Text 8"/>
          <p:cNvSpPr/>
          <p:nvPr/>
        </p:nvSpPr>
        <p:spPr>
          <a:xfrm>
            <a:off x="4700016" y="3429000"/>
            <a:ext cx="27797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коллеге, без «компьютерного» языка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8119872" y="1600200"/>
            <a:ext cx="3419856" cy="3200400"/>
          </a:xfrm>
          <a:prstGeom prst="roundRect">
            <a:avLst>
              <a:gd name="adj" fmla="val 3429"/>
            </a:avLst>
          </a:prstGeom>
          <a:solidFill>
            <a:srgbClr val="F5F3FB"/>
          </a:solidFill>
          <a:ln/>
          <a:effectLst>
            <a:outerShdw sx="100000" sy="100000" kx="0" ky="0" algn="bl" rotWithShape="0" blurRad="101600" dist="38100" dir="5400000">
              <a:srgbClr val="3A2E5F">
                <a:alpha val="18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8439912" y="1920240"/>
            <a:ext cx="685800" cy="685800"/>
          </a:xfrm>
          <a:prstGeom prst="ellipse">
            <a:avLst/>
          </a:prstGeom>
          <a:solidFill>
            <a:srgbClr val="241C40"/>
          </a:solidFill>
          <a:ln/>
        </p:spPr>
      </p:sp>
      <p:pic>
        <p:nvPicPr>
          <p:cNvPr id="16" name="Image 2" descr="/tmp/claude-0/-home-user-Salavat3476/1f57893f-24c3-5293-8814-e8366711ff5e/scratchpad/deck/assets/icon-bolt-FFFFF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5078" y="2105406"/>
            <a:ext cx="315468" cy="315468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8439912" y="2770632"/>
            <a:ext cx="27797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1C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Текст уже в окне</a:t>
            </a:r>
            <a:endParaRPr lang="en-US" sz="1700" dirty="0"/>
          </a:p>
        </p:txBody>
      </p:sp>
      <p:sp>
        <p:nvSpPr>
          <p:cNvPr id="18" name="Text 12"/>
          <p:cNvSpPr/>
          <p:nvPr/>
        </p:nvSpPr>
        <p:spPr>
          <a:xfrm>
            <a:off x="8439912" y="3429000"/>
            <a:ext cx="27797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почта, чат, документ — куда смотрите</a:t>
            </a:r>
            <a:endParaRPr lang="en-US" sz="1300" dirty="0"/>
          </a:p>
        </p:txBody>
      </p:sp>
      <p:sp>
        <p:nvSpPr>
          <p:cNvPr id="19" name="Text 13"/>
          <p:cNvSpPr/>
          <p:nvPr/>
        </p:nvSpPr>
        <p:spPr>
          <a:xfrm>
            <a:off x="640080" y="525780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6E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Бесплатно · открытый код · работает локально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1C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Практика: три задачи голосом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640080" y="1600200"/>
            <a:ext cx="3419856" cy="3200400"/>
          </a:xfrm>
          <a:prstGeom prst="roundRect">
            <a:avLst>
              <a:gd name="adj" fmla="val 3429"/>
            </a:avLst>
          </a:prstGeom>
          <a:solidFill>
            <a:srgbClr val="F5F3FB"/>
          </a:solidFill>
          <a:ln/>
          <a:effectLst>
            <a:outerShdw sx="100000" sy="100000" kx="0" ky="0" algn="bl" rotWithShape="0" blurRad="101600" dist="38100" dir="5400000">
              <a:srgbClr val="3A2E5F">
                <a:alpha val="1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960120" y="1920240"/>
            <a:ext cx="685800" cy="685800"/>
          </a:xfrm>
          <a:prstGeom prst="ellipse">
            <a:avLst/>
          </a:prstGeom>
          <a:solidFill>
            <a:srgbClr val="FF7A3D"/>
          </a:solidFill>
          <a:ln/>
        </p:spPr>
      </p:sp>
      <p:pic>
        <p:nvPicPr>
          <p:cNvPr id="6" name="Image 0" descr="/tmp/claude-0/-home-user-Salavat3476/1f57893f-24c3-5293-8814-e8366711ff5e/scratchpad/deck/assets/icon-mail-FFFF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5286" y="2105406"/>
            <a:ext cx="315468" cy="31546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60120" y="2770632"/>
            <a:ext cx="27797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1C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Письмо клиенту</a:t>
            </a:r>
            <a:endParaRPr lang="en-US" sz="1700" dirty="0"/>
          </a:p>
        </p:txBody>
      </p:sp>
      <p:sp>
        <p:nvSpPr>
          <p:cNvPr id="8" name="Text 4"/>
          <p:cNvSpPr/>
          <p:nvPr/>
        </p:nvSpPr>
        <p:spPr>
          <a:xfrm>
            <a:off x="960120" y="3429000"/>
            <a:ext cx="27797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ответ на реальный вопрос из вашей почты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4379976" y="1600200"/>
            <a:ext cx="3419856" cy="3200400"/>
          </a:xfrm>
          <a:prstGeom prst="roundRect">
            <a:avLst>
              <a:gd name="adj" fmla="val 3429"/>
            </a:avLst>
          </a:prstGeom>
          <a:solidFill>
            <a:srgbClr val="F5F3FB"/>
          </a:solidFill>
          <a:ln/>
          <a:effectLst>
            <a:outerShdw sx="100000" sy="100000" kx="0" ky="0" algn="bl" rotWithShape="0" blurRad="101600" dist="38100" dir="5400000">
              <a:srgbClr val="3A2E5F">
                <a:alpha val="1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4700016" y="1920240"/>
            <a:ext cx="685800" cy="685800"/>
          </a:xfrm>
          <a:prstGeom prst="ellipse">
            <a:avLst/>
          </a:prstGeom>
          <a:solidFill>
            <a:srgbClr val="17B8A6"/>
          </a:solidFill>
          <a:ln/>
        </p:spPr>
      </p:sp>
      <p:pic>
        <p:nvPicPr>
          <p:cNvPr id="11" name="Image 1" descr="/tmp/claude-0/-home-user-Salavat3476/1f57893f-24c3-5293-8814-e8366711ff5e/scratchpad/deck/assets/icon-list-FFFFF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5182" y="2105406"/>
            <a:ext cx="315468" cy="31546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4700016" y="2770632"/>
            <a:ext cx="27797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1C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Задача для агента</a:t>
            </a:r>
            <a:endParaRPr lang="en-US" sz="1700" dirty="0"/>
          </a:p>
        </p:txBody>
      </p:sp>
      <p:sp>
        <p:nvSpPr>
          <p:cNvPr id="13" name="Text 8"/>
          <p:cNvSpPr/>
          <p:nvPr/>
        </p:nvSpPr>
        <p:spPr>
          <a:xfrm>
            <a:off x="4700016" y="3429000"/>
            <a:ext cx="27797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«сделай…» — по формуле из демо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8119872" y="1600200"/>
            <a:ext cx="3419856" cy="3200400"/>
          </a:xfrm>
          <a:prstGeom prst="roundRect">
            <a:avLst>
              <a:gd name="adj" fmla="val 3429"/>
            </a:avLst>
          </a:prstGeom>
          <a:solidFill>
            <a:srgbClr val="F5F3FB"/>
          </a:solidFill>
          <a:ln/>
          <a:effectLst>
            <a:outerShdw sx="100000" sy="100000" kx="0" ky="0" algn="bl" rotWithShape="0" blurRad="101600" dist="38100" dir="5400000">
              <a:srgbClr val="3A2E5F">
                <a:alpha val="18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8439912" y="1920240"/>
            <a:ext cx="685800" cy="685800"/>
          </a:xfrm>
          <a:prstGeom prst="ellipse">
            <a:avLst/>
          </a:prstGeom>
          <a:solidFill>
            <a:srgbClr val="241C40"/>
          </a:solidFill>
          <a:ln/>
        </p:spPr>
      </p:sp>
      <p:pic>
        <p:nvPicPr>
          <p:cNvPr id="16" name="Image 2" descr="/tmp/claude-0/-home-user-Salavat3476/1f57893f-24c3-5293-8814-e8366711ff5e/scratchpad/deck/assets/icon-pen-FFFFF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5078" y="2105406"/>
            <a:ext cx="315468" cy="315468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8439912" y="2770632"/>
            <a:ext cx="27797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1C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Пост для соцсетей</a:t>
            </a:r>
            <a:endParaRPr lang="en-US" sz="1700" dirty="0"/>
          </a:p>
        </p:txBody>
      </p:sp>
      <p:sp>
        <p:nvSpPr>
          <p:cNvPr id="18" name="Text 12"/>
          <p:cNvSpPr/>
          <p:nvPr/>
        </p:nvSpPr>
        <p:spPr>
          <a:xfrm>
            <a:off x="8439912" y="3429000"/>
            <a:ext cx="27797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 вашем продукте, 3 предложения</a:t>
            </a:r>
            <a:endParaRPr lang="en-US" sz="1300" dirty="0"/>
          </a:p>
        </p:txBody>
      </p:sp>
      <p:sp>
        <p:nvSpPr>
          <p:cNvPr id="19" name="Text 13"/>
          <p:cNvSpPr/>
          <p:nvPr/>
        </p:nvSpPr>
        <p:spPr>
          <a:xfrm>
            <a:off x="640080" y="525780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6E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Правило: сначала мысль — потом клавиша.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50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Salavat3476/1f57893f-24c3-5293-8814-e8366711ff5e/scratchpad/deck/assets/strip.png">    </p:cNvPr>
          <p:cNvPicPr>
            <a:picLocks noChangeAspect="1"/>
          </p:cNvPicPr>
          <p:nvPr/>
        </p:nvPicPr>
        <p:blipFill>
          <a:blip r:embed="rId1">
            <a:alphaModFix amt="65000"/>
          </a:blip>
          <a:stretch>
            <a:fillRect/>
          </a:stretch>
        </p:blipFill>
        <p:spPr>
          <a:xfrm>
            <a:off x="0" y="5458968"/>
            <a:ext cx="12188952" cy="139903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88720" y="2103120"/>
            <a:ext cx="981151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Говорить — быстрее, чем печатать.</a:t>
            </a:r>
            <a:endParaRPr lang="en-US" sz="3600" dirty="0"/>
          </a:p>
        </p:txBody>
      </p:sp>
      <p:sp>
        <p:nvSpPr>
          <p:cNvPr id="4" name="Text 1"/>
          <p:cNvSpPr/>
          <p:nvPr/>
        </p:nvSpPr>
        <p:spPr>
          <a:xfrm>
            <a:off x="1828800" y="4114800"/>
            <a:ext cx="8531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FFC9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голос — самый быстрый интерфейс между вами и агентом</a:t>
            </a:r>
            <a:endParaRPr lang="en-US" sz="1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Salavat3476/1f57893f-24c3-5293-8814-e8366711ff5e/scratchpad/deck/assets/scene-plu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416052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400" kern="0" dirty="0">
                <a:solidFill>
                  <a:srgbClr val="FFC9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МОДУЛЬ 3 · 18:55</a:t>
            </a:r>
            <a:endParaRPr lang="en-US" sz="1700" dirty="0"/>
          </a:p>
        </p:txBody>
      </p:sp>
      <p:sp>
        <p:nvSpPr>
          <p:cNvPr id="4" name="Text 1"/>
          <p:cNvSpPr/>
          <p:nvPr/>
        </p:nvSpPr>
        <p:spPr>
          <a:xfrm>
            <a:off x="777240" y="4572000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Промпт — это ТЗ</a:t>
            </a:r>
            <a:endParaRPr lang="en-US" sz="4200" dirty="0"/>
          </a:p>
        </p:txBody>
      </p:sp>
      <p:sp>
        <p:nvSpPr>
          <p:cNvPr id="5" name="Text 2"/>
          <p:cNvSpPr/>
          <p:nvPr/>
        </p:nvSpPr>
        <p:spPr>
          <a:xfrm>
            <a:off x="777240" y="562356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4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формула задачи, которую агент понимает с первого раза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1C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Формула сильного промпта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640080" y="1600200"/>
            <a:ext cx="2606040" cy="3200400"/>
          </a:xfrm>
          <a:prstGeom prst="roundRect">
            <a:avLst>
              <a:gd name="adj" fmla="val 4211"/>
            </a:avLst>
          </a:prstGeom>
          <a:solidFill>
            <a:srgbClr val="F5F3FB"/>
          </a:solidFill>
          <a:ln/>
          <a:effectLst>
            <a:outerShdw sx="100000" sy="100000" kx="0" ky="0" algn="bl" rotWithShape="0" blurRad="101600" dist="38100" dir="5400000">
              <a:srgbClr val="3A2E5F">
                <a:alpha val="1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960120" y="1920240"/>
            <a:ext cx="685800" cy="685800"/>
          </a:xfrm>
          <a:prstGeom prst="ellipse">
            <a:avLst/>
          </a:prstGeom>
          <a:solidFill>
            <a:srgbClr val="FF7A3D"/>
          </a:solidFill>
          <a:ln/>
        </p:spPr>
      </p:sp>
      <p:pic>
        <p:nvPicPr>
          <p:cNvPr id="6" name="Image 0" descr="/tmp/claude-0/-home-user-Salavat3476/1f57893f-24c3-5293-8814-e8366711ff5e/scratchpad/deck/assets/icon-user-FFFF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5286" y="2105406"/>
            <a:ext cx="315468" cy="31546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60120" y="2770632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1C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Роль</a:t>
            </a:r>
            <a:endParaRPr lang="en-US" sz="1700" dirty="0"/>
          </a:p>
        </p:txBody>
      </p:sp>
      <p:sp>
        <p:nvSpPr>
          <p:cNvPr id="8" name="Text 4"/>
          <p:cNvSpPr/>
          <p:nvPr/>
        </p:nvSpPr>
        <p:spPr>
          <a:xfrm>
            <a:off x="960120" y="3429000"/>
            <a:ext cx="1965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кем работает агент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3474720" y="1600200"/>
            <a:ext cx="2606040" cy="3200400"/>
          </a:xfrm>
          <a:prstGeom prst="roundRect">
            <a:avLst>
              <a:gd name="adj" fmla="val 4211"/>
            </a:avLst>
          </a:prstGeom>
          <a:solidFill>
            <a:srgbClr val="F5F3FB"/>
          </a:solidFill>
          <a:ln/>
          <a:effectLst>
            <a:outerShdw sx="100000" sy="100000" kx="0" ky="0" algn="bl" rotWithShape="0" blurRad="101600" dist="38100" dir="5400000">
              <a:srgbClr val="3A2E5F">
                <a:alpha val="1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3794760" y="1920240"/>
            <a:ext cx="685800" cy="685800"/>
          </a:xfrm>
          <a:prstGeom prst="ellipse">
            <a:avLst/>
          </a:prstGeom>
          <a:solidFill>
            <a:srgbClr val="17B8A6"/>
          </a:solidFill>
          <a:ln/>
        </p:spPr>
      </p:sp>
      <p:pic>
        <p:nvPicPr>
          <p:cNvPr id="11" name="Image 1" descr="/tmp/claude-0/-home-user-Salavat3476/1f57893f-24c3-5293-8814-e8366711ff5e/scratchpad/deck/assets/icon-target-FFFFF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9926" y="2105406"/>
            <a:ext cx="315468" cy="31546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3794760" y="2770632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1C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Задача</a:t>
            </a:r>
            <a:endParaRPr lang="en-US" sz="1700" dirty="0"/>
          </a:p>
        </p:txBody>
      </p:sp>
      <p:sp>
        <p:nvSpPr>
          <p:cNvPr id="13" name="Text 8"/>
          <p:cNvSpPr/>
          <p:nvPr/>
        </p:nvSpPr>
        <p:spPr>
          <a:xfrm>
            <a:off x="3794760" y="3429000"/>
            <a:ext cx="1965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сделать, глаголом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6309360" y="1600200"/>
            <a:ext cx="2606040" cy="3200400"/>
          </a:xfrm>
          <a:prstGeom prst="roundRect">
            <a:avLst>
              <a:gd name="adj" fmla="val 4211"/>
            </a:avLst>
          </a:prstGeom>
          <a:solidFill>
            <a:srgbClr val="F5F3FB"/>
          </a:solidFill>
          <a:ln/>
          <a:effectLst>
            <a:outerShdw sx="100000" sy="100000" kx="0" ky="0" algn="bl" rotWithShape="0" blurRad="101600" dist="38100" dir="5400000">
              <a:srgbClr val="3A2E5F">
                <a:alpha val="18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6629400" y="1920240"/>
            <a:ext cx="685800" cy="685800"/>
          </a:xfrm>
          <a:prstGeom prst="ellipse">
            <a:avLst/>
          </a:prstGeom>
          <a:solidFill>
            <a:srgbClr val="241C40"/>
          </a:solidFill>
          <a:ln/>
        </p:spPr>
      </p:sp>
      <p:pic>
        <p:nvPicPr>
          <p:cNvPr id="16" name="Image 2" descr="/tmp/claude-0/-home-user-Salavat3476/1f57893f-24c3-5293-8814-e8366711ff5e/scratchpad/deck/assets/icon-share-FFFFF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4566" y="2105406"/>
            <a:ext cx="315468" cy="315468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6629400" y="2770632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1C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Контекст</a:t>
            </a:r>
            <a:endParaRPr lang="en-US" sz="1700" dirty="0"/>
          </a:p>
        </p:txBody>
      </p:sp>
      <p:sp>
        <p:nvSpPr>
          <p:cNvPr id="18" name="Text 12"/>
          <p:cNvSpPr/>
          <p:nvPr/>
        </p:nvSpPr>
        <p:spPr>
          <a:xfrm>
            <a:off x="6629400" y="3429000"/>
            <a:ext cx="1965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нужно знать</a:t>
            </a:r>
            <a:endParaRPr lang="en-US" sz="1300" dirty="0"/>
          </a:p>
        </p:txBody>
      </p:sp>
      <p:sp>
        <p:nvSpPr>
          <p:cNvPr id="19" name="Shape 13"/>
          <p:cNvSpPr/>
          <p:nvPr/>
        </p:nvSpPr>
        <p:spPr>
          <a:xfrm>
            <a:off x="9144000" y="1600200"/>
            <a:ext cx="2606040" cy="3200400"/>
          </a:xfrm>
          <a:prstGeom prst="roundRect">
            <a:avLst>
              <a:gd name="adj" fmla="val 4211"/>
            </a:avLst>
          </a:prstGeom>
          <a:solidFill>
            <a:srgbClr val="F5F3FB"/>
          </a:solidFill>
          <a:ln/>
          <a:effectLst>
            <a:outerShdw sx="100000" sy="100000" kx="0" ky="0" algn="bl" rotWithShape="0" blurRad="101600" dist="38100" dir="5400000">
              <a:srgbClr val="3A2E5F">
                <a:alpha val="18000"/>
              </a:srgbClr>
            </a:outerShdw>
          </a:effectLst>
        </p:spPr>
      </p:sp>
      <p:sp>
        <p:nvSpPr>
          <p:cNvPr id="20" name="Shape 14"/>
          <p:cNvSpPr/>
          <p:nvPr/>
        </p:nvSpPr>
        <p:spPr>
          <a:xfrm>
            <a:off x="9464040" y="1920240"/>
            <a:ext cx="685800" cy="685800"/>
          </a:xfrm>
          <a:prstGeom prst="ellipse">
            <a:avLst/>
          </a:prstGeom>
          <a:solidFill>
            <a:srgbClr val="8A5FBF"/>
          </a:solidFill>
          <a:ln/>
        </p:spPr>
      </p:sp>
      <p:pic>
        <p:nvPicPr>
          <p:cNvPr id="21" name="Image 3" descr="/tmp/claude-0/-home-user-Salavat3476/1f57893f-24c3-5293-8814-e8366711ff5e/scratchpad/deck/assets/icon-doc-FFFFFF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9206" y="2105406"/>
            <a:ext cx="315468" cy="315468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9464040" y="2770632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1C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Формат</a:t>
            </a:r>
            <a:endParaRPr lang="en-US" sz="1700" dirty="0"/>
          </a:p>
        </p:txBody>
      </p:sp>
      <p:sp>
        <p:nvSpPr>
          <p:cNvPr id="23" name="Text 16"/>
          <p:cNvSpPr/>
          <p:nvPr/>
        </p:nvSpPr>
        <p:spPr>
          <a:xfrm>
            <a:off x="9464040" y="3429000"/>
            <a:ext cx="1965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выглядит результат</a:t>
            </a:r>
            <a:endParaRPr lang="en-US" sz="1300" dirty="0"/>
          </a:p>
        </p:txBody>
      </p:sp>
      <p:sp>
        <p:nvSpPr>
          <p:cNvPr id="24" name="Text 17"/>
          <p:cNvSpPr/>
          <p:nvPr/>
        </p:nvSpPr>
        <p:spPr>
          <a:xfrm>
            <a:off x="640080" y="525780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7A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Роль + Задача + Контекст + Формат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1C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Почувствуйте разницу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640080" y="1600200"/>
            <a:ext cx="5257800" cy="3931920"/>
          </a:xfrm>
          <a:prstGeom prst="roundRect">
            <a:avLst>
              <a:gd name="adj" fmla="val 2791"/>
            </a:avLst>
          </a:prstGeom>
          <a:solidFill>
            <a:srgbClr val="F3F2F6"/>
          </a:solidFill>
          <a:ln/>
        </p:spPr>
      </p:sp>
      <p:sp>
        <p:nvSpPr>
          <p:cNvPr id="5" name="Text 2"/>
          <p:cNvSpPr/>
          <p:nvPr/>
        </p:nvSpPr>
        <p:spPr>
          <a:xfrm>
            <a:off x="1005840" y="1965960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6E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ТАК НЕ РАБОТАЕТ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1005840" y="2606040"/>
            <a:ext cx="4526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241C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«Напиши пост»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1005840" y="4754880"/>
            <a:ext cx="4526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Агент гадает — вы получаете «воду».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291072" y="1600200"/>
            <a:ext cx="5257800" cy="3931920"/>
          </a:xfrm>
          <a:prstGeom prst="roundRect">
            <a:avLst>
              <a:gd name="adj" fmla="val 2791"/>
            </a:avLst>
          </a:prstGeom>
          <a:solidFill>
            <a:srgbClr val="FFF0E6"/>
          </a:solidFill>
          <a:ln/>
        </p:spPr>
      </p:sp>
      <p:sp>
        <p:nvSpPr>
          <p:cNvPr id="9" name="Text 6"/>
          <p:cNvSpPr/>
          <p:nvPr/>
        </p:nvSpPr>
        <p:spPr>
          <a:xfrm>
            <a:off x="6656832" y="1965960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FF7A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ТАК РАБОТАЕТ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656832" y="2606040"/>
            <a:ext cx="4526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41C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Роль · Задача · Контекст · Формат —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41C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все четыре поля заполнены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6656832" y="4754880"/>
            <a:ext cx="4526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Агент попадает в цель с первого раза.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50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Salavat3476/1f57893f-24c3-5293-8814-e8366711ff5e/scratchpad/deck/assets/strip.png">    </p:cNvPr>
          <p:cNvPicPr>
            <a:picLocks noChangeAspect="1"/>
          </p:cNvPicPr>
          <p:nvPr/>
        </p:nvPicPr>
        <p:blipFill>
          <a:blip r:embed="rId1">
            <a:alphaModFix amt="65000"/>
          </a:blip>
          <a:stretch>
            <a:fillRect/>
          </a:stretch>
        </p:blipFill>
        <p:spPr>
          <a:xfrm>
            <a:off x="0" y="5458968"/>
            <a:ext cx="12188952" cy="139903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88720" y="2103120"/>
            <a:ext cx="981151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Агент работает ровно настолько хорошо,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насколько поставлена задача.</a:t>
            </a:r>
            <a:endParaRPr lang="en-US" sz="3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Salavat3476/1f57893f-24c3-5293-8814-e8366711ff5e/scratchpad/deck/assets/scene-suns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416052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400" kern="0" dirty="0">
                <a:solidFill>
                  <a:srgbClr val="FFC9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МОДУЛЬ 4 · 19:15</a:t>
            </a:r>
            <a:endParaRPr lang="en-US" sz="1700" dirty="0"/>
          </a:p>
        </p:txBody>
      </p:sp>
      <p:sp>
        <p:nvSpPr>
          <p:cNvPr id="4" name="Text 1"/>
          <p:cNvSpPr/>
          <p:nvPr/>
        </p:nvSpPr>
        <p:spPr>
          <a:xfrm>
            <a:off x="777240" y="4572000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Первый агент: отвечает клиентам</a:t>
            </a:r>
            <a:endParaRPr lang="en-US" sz="4200" dirty="0"/>
          </a:p>
        </p:txBody>
      </p:sp>
      <p:sp>
        <p:nvSpPr>
          <p:cNvPr id="5" name="Text 2"/>
          <p:cNvSpPr/>
          <p:nvPr/>
        </p:nvSpPr>
        <p:spPr>
          <a:xfrm>
            <a:off x="777240" y="562356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4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собираем автоответчик мечты — прямо сейчас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1C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это выглядит у клиента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640080" y="1600200"/>
            <a:ext cx="3419856" cy="3200400"/>
          </a:xfrm>
          <a:prstGeom prst="roundRect">
            <a:avLst>
              <a:gd name="adj" fmla="val 3429"/>
            </a:avLst>
          </a:prstGeom>
          <a:solidFill>
            <a:srgbClr val="F5F3FB"/>
          </a:solidFill>
          <a:ln/>
          <a:effectLst>
            <a:outerShdw sx="100000" sy="100000" kx="0" ky="0" algn="bl" rotWithShape="0" blurRad="101600" dist="38100" dir="5400000">
              <a:srgbClr val="3A2E5F">
                <a:alpha val="1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960120" y="1920240"/>
            <a:ext cx="685800" cy="685800"/>
          </a:xfrm>
          <a:prstGeom prst="ellipse">
            <a:avLst/>
          </a:prstGeom>
          <a:solidFill>
            <a:srgbClr val="FF7A3D"/>
          </a:solidFill>
          <a:ln/>
        </p:spPr>
      </p:sp>
      <p:pic>
        <p:nvPicPr>
          <p:cNvPr id="6" name="Image 0" descr="/tmp/claude-0/-home-user-Salavat3476/1f57893f-24c3-5293-8814-e8366711ff5e/scratchpad/deck/assets/icon-chat-FFFF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5286" y="2105406"/>
            <a:ext cx="315468" cy="31546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60120" y="2770632"/>
            <a:ext cx="27797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1C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Клиент пишет</a:t>
            </a:r>
            <a:endParaRPr lang="en-US" sz="1700" dirty="0"/>
          </a:p>
        </p:txBody>
      </p:sp>
      <p:sp>
        <p:nvSpPr>
          <p:cNvPr id="8" name="Text 4"/>
          <p:cNvSpPr/>
          <p:nvPr/>
        </p:nvSpPr>
        <p:spPr>
          <a:xfrm>
            <a:off x="960120" y="3429000"/>
            <a:ext cx="27797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любое время — хоть ночью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4005072" y="2834640"/>
            <a:ext cx="4297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7A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600" dirty="0"/>
          </a:p>
        </p:txBody>
      </p:sp>
      <p:sp>
        <p:nvSpPr>
          <p:cNvPr id="10" name="Shape 6"/>
          <p:cNvSpPr/>
          <p:nvPr/>
        </p:nvSpPr>
        <p:spPr>
          <a:xfrm>
            <a:off x="4379976" y="1600200"/>
            <a:ext cx="3419856" cy="3200400"/>
          </a:xfrm>
          <a:prstGeom prst="roundRect">
            <a:avLst>
              <a:gd name="adj" fmla="val 3429"/>
            </a:avLst>
          </a:prstGeom>
          <a:solidFill>
            <a:srgbClr val="F5F3FB"/>
          </a:solidFill>
          <a:ln/>
          <a:effectLst>
            <a:outerShdw sx="100000" sy="100000" kx="0" ky="0" algn="bl" rotWithShape="0" blurRad="101600" dist="38100" dir="5400000">
              <a:srgbClr val="3A2E5F">
                <a:alpha val="18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700016" y="1920240"/>
            <a:ext cx="685800" cy="685800"/>
          </a:xfrm>
          <a:prstGeom prst="ellipse">
            <a:avLst/>
          </a:prstGeom>
          <a:solidFill>
            <a:srgbClr val="17B8A6"/>
          </a:solidFill>
          <a:ln/>
        </p:spPr>
      </p:sp>
      <p:pic>
        <p:nvPicPr>
          <p:cNvPr id="12" name="Image 1" descr="/tmp/claude-0/-home-user-Salavat3476/1f57893f-24c3-5293-8814-e8366711ff5e/scratchpad/deck/assets/icon-robot-FFFFF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5182" y="2105406"/>
            <a:ext cx="315468" cy="31546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4700016" y="2770632"/>
            <a:ext cx="27797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1C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Агент отвечает</a:t>
            </a:r>
            <a:endParaRPr lang="en-US" sz="1700" dirty="0"/>
          </a:p>
        </p:txBody>
      </p:sp>
      <p:sp>
        <p:nvSpPr>
          <p:cNvPr id="14" name="Text 9"/>
          <p:cNvSpPr/>
          <p:nvPr/>
        </p:nvSpPr>
        <p:spPr>
          <a:xfrm>
            <a:off x="4700016" y="3429000"/>
            <a:ext cx="27797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вашей базе знаний, в тоне бренда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7744968" y="2834640"/>
            <a:ext cx="4297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7A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600" dirty="0"/>
          </a:p>
        </p:txBody>
      </p:sp>
      <p:sp>
        <p:nvSpPr>
          <p:cNvPr id="16" name="Shape 11"/>
          <p:cNvSpPr/>
          <p:nvPr/>
        </p:nvSpPr>
        <p:spPr>
          <a:xfrm>
            <a:off x="8119872" y="1600200"/>
            <a:ext cx="3419856" cy="3200400"/>
          </a:xfrm>
          <a:prstGeom prst="roundRect">
            <a:avLst>
              <a:gd name="adj" fmla="val 3429"/>
            </a:avLst>
          </a:prstGeom>
          <a:solidFill>
            <a:srgbClr val="F5F3FB"/>
          </a:solidFill>
          <a:ln/>
          <a:effectLst>
            <a:outerShdw sx="100000" sy="100000" kx="0" ky="0" algn="bl" rotWithShape="0" blurRad="101600" dist="38100" dir="5400000">
              <a:srgbClr val="3A2E5F">
                <a:alpha val="18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439912" y="1920240"/>
            <a:ext cx="685800" cy="685800"/>
          </a:xfrm>
          <a:prstGeom prst="ellipse">
            <a:avLst/>
          </a:prstGeom>
          <a:solidFill>
            <a:srgbClr val="241C40"/>
          </a:solidFill>
          <a:ln/>
        </p:spPr>
      </p:sp>
      <p:pic>
        <p:nvPicPr>
          <p:cNvPr id="18" name="Image 2" descr="/tmp/claude-0/-home-user-Salavat3476/1f57893f-24c3-5293-8814-e8366711ff5e/scratchpad/deck/assets/icon-hand-FFFFF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5078" y="2105406"/>
            <a:ext cx="315468" cy="315468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8439912" y="2770632"/>
            <a:ext cx="27797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1C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Сложное — человеку</a:t>
            </a:r>
            <a:endParaRPr lang="en-US" sz="1700" dirty="0"/>
          </a:p>
        </p:txBody>
      </p:sp>
      <p:sp>
        <p:nvSpPr>
          <p:cNvPr id="20" name="Text 14"/>
          <p:cNvSpPr/>
          <p:nvPr/>
        </p:nvSpPr>
        <p:spPr>
          <a:xfrm>
            <a:off x="8439912" y="3429000"/>
            <a:ext cx="27797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агент знает границы своих полномочий</a:t>
            </a:r>
            <a:endParaRPr lang="en-US" sz="1300" dirty="0"/>
          </a:p>
        </p:txBody>
      </p:sp>
      <p:sp>
        <p:nvSpPr>
          <p:cNvPr id="21" name="Text 15"/>
          <p:cNvSpPr/>
          <p:nvPr/>
        </p:nvSpPr>
        <p:spPr>
          <a:xfrm>
            <a:off x="640080" y="525780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6E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Клиент получает ответ за секунды — всегда.</a:t>
            </a:r>
            <a:endParaRPr lang="en-US" sz="17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1C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Собираем на ваших глазах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640080" y="1600200"/>
            <a:ext cx="2606040" cy="3200400"/>
          </a:xfrm>
          <a:prstGeom prst="roundRect">
            <a:avLst>
              <a:gd name="adj" fmla="val 4211"/>
            </a:avLst>
          </a:prstGeom>
          <a:solidFill>
            <a:srgbClr val="F5F3FB"/>
          </a:solidFill>
          <a:ln/>
          <a:effectLst>
            <a:outerShdw sx="100000" sy="100000" kx="0" ky="0" algn="bl" rotWithShape="0" blurRad="101600" dist="38100" dir="5400000">
              <a:srgbClr val="3A2E5F">
                <a:alpha val="1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960120" y="1920240"/>
            <a:ext cx="685800" cy="685800"/>
          </a:xfrm>
          <a:prstGeom prst="ellipse">
            <a:avLst/>
          </a:prstGeom>
          <a:solidFill>
            <a:srgbClr val="FF7A3D"/>
          </a:solidFill>
          <a:ln/>
        </p:spPr>
      </p:sp>
      <p:pic>
        <p:nvPicPr>
          <p:cNvPr id="6" name="Image 0" descr="/tmp/claude-0/-home-user-Salavat3476/1f57893f-24c3-5293-8814-e8366711ff5e/scratchpad/deck/assets/icon-hand-FFFF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5286" y="2105406"/>
            <a:ext cx="315468" cy="31546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60120" y="2770632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1C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Приветствие</a:t>
            </a:r>
            <a:endParaRPr lang="en-US" sz="1700" dirty="0"/>
          </a:p>
        </p:txBody>
      </p:sp>
      <p:sp>
        <p:nvSpPr>
          <p:cNvPr id="8" name="Text 4"/>
          <p:cNvSpPr/>
          <p:nvPr/>
        </p:nvSpPr>
        <p:spPr>
          <a:xfrm>
            <a:off x="960120" y="3429000"/>
            <a:ext cx="1965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первая фраза агента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3474720" y="1600200"/>
            <a:ext cx="2606040" cy="3200400"/>
          </a:xfrm>
          <a:prstGeom prst="roundRect">
            <a:avLst>
              <a:gd name="adj" fmla="val 4211"/>
            </a:avLst>
          </a:prstGeom>
          <a:solidFill>
            <a:srgbClr val="F5F3FB"/>
          </a:solidFill>
          <a:ln/>
          <a:effectLst>
            <a:outerShdw sx="100000" sy="100000" kx="0" ky="0" algn="bl" rotWithShape="0" blurRad="101600" dist="38100" dir="5400000">
              <a:srgbClr val="3A2E5F">
                <a:alpha val="1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3794760" y="1920240"/>
            <a:ext cx="685800" cy="685800"/>
          </a:xfrm>
          <a:prstGeom prst="ellipse">
            <a:avLst/>
          </a:prstGeom>
          <a:solidFill>
            <a:srgbClr val="17B8A6"/>
          </a:solidFill>
          <a:ln/>
        </p:spPr>
      </p:sp>
      <p:pic>
        <p:nvPicPr>
          <p:cNvPr id="11" name="Image 1" descr="/tmp/claude-0/-home-user-Salavat3476/1f57893f-24c3-5293-8814-e8366711ff5e/scratchpad/deck/assets/icon-list-FFFFF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9926" y="2105406"/>
            <a:ext cx="315468" cy="31546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3794760" y="2770632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1C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частых вопросов</a:t>
            </a:r>
            <a:endParaRPr lang="en-US" sz="1700" dirty="0"/>
          </a:p>
        </p:txBody>
      </p:sp>
      <p:sp>
        <p:nvSpPr>
          <p:cNvPr id="13" name="Text 8"/>
          <p:cNvSpPr/>
          <p:nvPr/>
        </p:nvSpPr>
        <p:spPr>
          <a:xfrm>
            <a:off x="3794760" y="3429000"/>
            <a:ext cx="1965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 точные ответы на них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6309360" y="1600200"/>
            <a:ext cx="2606040" cy="3200400"/>
          </a:xfrm>
          <a:prstGeom prst="roundRect">
            <a:avLst>
              <a:gd name="adj" fmla="val 4211"/>
            </a:avLst>
          </a:prstGeom>
          <a:solidFill>
            <a:srgbClr val="F5F3FB"/>
          </a:solidFill>
          <a:ln/>
          <a:effectLst>
            <a:outerShdw sx="100000" sy="100000" kx="0" ky="0" algn="bl" rotWithShape="0" blurRad="101600" dist="38100" dir="5400000">
              <a:srgbClr val="3A2E5F">
                <a:alpha val="18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6629400" y="1920240"/>
            <a:ext cx="685800" cy="685800"/>
          </a:xfrm>
          <a:prstGeom prst="ellipse">
            <a:avLst/>
          </a:prstGeom>
          <a:solidFill>
            <a:srgbClr val="241C40"/>
          </a:solidFill>
          <a:ln/>
        </p:spPr>
      </p:sp>
      <p:pic>
        <p:nvPicPr>
          <p:cNvPr id="16" name="Image 2" descr="/tmp/claude-0/-home-user-Salavat3476/1f57893f-24c3-5293-8814-e8366711ff5e/scratchpad/deck/assets/icon-pen-FFFFF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4566" y="2105406"/>
            <a:ext cx="315468" cy="315468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6629400" y="2770632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1C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Тон бренда</a:t>
            </a:r>
            <a:endParaRPr lang="en-US" sz="1700" dirty="0"/>
          </a:p>
        </p:txBody>
      </p:sp>
      <p:sp>
        <p:nvSpPr>
          <p:cNvPr id="18" name="Text 12"/>
          <p:cNvSpPr/>
          <p:nvPr/>
        </p:nvSpPr>
        <p:spPr>
          <a:xfrm>
            <a:off x="6629400" y="3429000"/>
            <a:ext cx="1965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звучит ваша компания</a:t>
            </a:r>
            <a:endParaRPr lang="en-US" sz="1300" dirty="0"/>
          </a:p>
        </p:txBody>
      </p:sp>
      <p:sp>
        <p:nvSpPr>
          <p:cNvPr id="19" name="Shape 13"/>
          <p:cNvSpPr/>
          <p:nvPr/>
        </p:nvSpPr>
        <p:spPr>
          <a:xfrm>
            <a:off x="9144000" y="1600200"/>
            <a:ext cx="2606040" cy="3200400"/>
          </a:xfrm>
          <a:prstGeom prst="roundRect">
            <a:avLst>
              <a:gd name="adj" fmla="val 4211"/>
            </a:avLst>
          </a:prstGeom>
          <a:solidFill>
            <a:srgbClr val="F5F3FB"/>
          </a:solidFill>
          <a:ln/>
          <a:effectLst>
            <a:outerShdw sx="100000" sy="100000" kx="0" ky="0" algn="bl" rotWithShape="0" blurRad="101600" dist="38100" dir="5400000">
              <a:srgbClr val="3A2E5F">
                <a:alpha val="18000"/>
              </a:srgbClr>
            </a:outerShdw>
          </a:effectLst>
        </p:spPr>
      </p:sp>
      <p:sp>
        <p:nvSpPr>
          <p:cNvPr id="20" name="Shape 14"/>
          <p:cNvSpPr/>
          <p:nvPr/>
        </p:nvSpPr>
        <p:spPr>
          <a:xfrm>
            <a:off x="9464040" y="1920240"/>
            <a:ext cx="685800" cy="685800"/>
          </a:xfrm>
          <a:prstGeom prst="ellipse">
            <a:avLst/>
          </a:prstGeom>
          <a:solidFill>
            <a:srgbClr val="8A5FBF"/>
          </a:solidFill>
          <a:ln/>
        </p:spPr>
      </p:sp>
      <p:pic>
        <p:nvPicPr>
          <p:cNvPr id="21" name="Image 3" descr="/tmp/claude-0/-home-user-Salavat3476/1f57893f-24c3-5293-8814-e8366711ff5e/scratchpad/deck/assets/icon-filter-FFFFFF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9206" y="2105406"/>
            <a:ext cx="315468" cy="315468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9464040" y="2770632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1C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Стоп-темы</a:t>
            </a:r>
            <a:endParaRPr lang="en-US" sz="1700" dirty="0"/>
          </a:p>
        </p:txBody>
      </p:sp>
      <p:sp>
        <p:nvSpPr>
          <p:cNvPr id="23" name="Text 16"/>
          <p:cNvSpPr/>
          <p:nvPr/>
        </p:nvSpPr>
        <p:spPr>
          <a:xfrm>
            <a:off x="9464040" y="3429000"/>
            <a:ext cx="1965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агент передаёт человеку</a:t>
            </a:r>
            <a:endParaRPr lang="en-US" sz="1300" dirty="0"/>
          </a:p>
        </p:txBody>
      </p:sp>
      <p:sp>
        <p:nvSpPr>
          <p:cNvPr id="24" name="Text 17"/>
          <p:cNvSpPr/>
          <p:nvPr/>
        </p:nvSpPr>
        <p:spPr>
          <a:xfrm>
            <a:off x="640080" y="525780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6E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Четыре шага — и агент выходит на смену.</a:t>
            </a:r>
            <a:endParaRPr lang="en-US" sz="17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Salavat3476/1f57893f-24c3-5293-8814-e8366711ff5e/scratchpad/deck/assets/scene-amb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438912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C9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ПЕРЕРЫВ · 15 МИНУТ</a:t>
            </a:r>
            <a:endParaRPr lang="en-US" sz="2000" dirty="0"/>
          </a:p>
        </p:txBody>
      </p:sp>
      <p:sp>
        <p:nvSpPr>
          <p:cNvPr id="4" name="Text 1"/>
          <p:cNvSpPr/>
          <p:nvPr/>
        </p:nvSpPr>
        <p:spPr>
          <a:xfrm>
            <a:off x="777240" y="489204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Возвращаемся в 19:50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Salavat3476/1f57893f-24c3-5293-8814-e8366711ff5e/scratchpad/deck/assets/scene-indi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416052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400" kern="0" dirty="0">
                <a:solidFill>
                  <a:srgbClr val="FFC9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МОДУЛЬ 5 · 19:50</a:t>
            </a:r>
            <a:endParaRPr lang="en-US" sz="1700" dirty="0"/>
          </a:p>
        </p:txBody>
      </p:sp>
      <p:sp>
        <p:nvSpPr>
          <p:cNvPr id="4" name="Text 1"/>
          <p:cNvSpPr/>
          <p:nvPr/>
        </p:nvSpPr>
        <p:spPr>
          <a:xfrm>
            <a:off x="777240" y="4572000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Документы и отчёты за минуты</a:t>
            </a:r>
            <a:endParaRPr lang="en-US" sz="4200" dirty="0"/>
          </a:p>
        </p:txBody>
      </p:sp>
      <p:sp>
        <p:nvSpPr>
          <p:cNvPr id="5" name="Text 2"/>
          <p:cNvSpPr/>
          <p:nvPr/>
        </p:nvSpPr>
        <p:spPr>
          <a:xfrm>
            <a:off x="777240" y="562356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4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рутинные тексты больше не ваша работа</a:t>
            </a:r>
            <a:endParaRPr lang="en-US" sz="1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1C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агент пишет за вас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640080" y="1600200"/>
            <a:ext cx="2606040" cy="3200400"/>
          </a:xfrm>
          <a:prstGeom prst="roundRect">
            <a:avLst>
              <a:gd name="adj" fmla="val 4211"/>
            </a:avLst>
          </a:prstGeom>
          <a:solidFill>
            <a:srgbClr val="F5F3FB"/>
          </a:solidFill>
          <a:ln/>
          <a:effectLst>
            <a:outerShdw sx="100000" sy="100000" kx="0" ky="0" algn="bl" rotWithShape="0" blurRad="101600" dist="38100" dir="5400000">
              <a:srgbClr val="3A2E5F">
                <a:alpha val="1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960120" y="1920240"/>
            <a:ext cx="685800" cy="685800"/>
          </a:xfrm>
          <a:prstGeom prst="ellipse">
            <a:avLst/>
          </a:prstGeom>
          <a:solidFill>
            <a:srgbClr val="FF7A3D"/>
          </a:solidFill>
          <a:ln/>
        </p:spPr>
      </p:sp>
      <p:pic>
        <p:nvPicPr>
          <p:cNvPr id="6" name="Image 0" descr="/tmp/claude-0/-home-user-Salavat3476/1f57893f-24c3-5293-8814-e8366711ff5e/scratchpad/deck/assets/icon-doc-FFFF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5286" y="2105406"/>
            <a:ext cx="315468" cy="31546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60120" y="2770632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1C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Коммерческое предложение</a:t>
            </a:r>
            <a:endParaRPr lang="en-US" sz="1700" dirty="0"/>
          </a:p>
        </p:txBody>
      </p:sp>
      <p:sp>
        <p:nvSpPr>
          <p:cNvPr id="8" name="Text 4"/>
          <p:cNvSpPr/>
          <p:nvPr/>
        </p:nvSpPr>
        <p:spPr>
          <a:xfrm>
            <a:off x="960120" y="3429000"/>
            <a:ext cx="1965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 конкретного клиента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3474720" y="1600200"/>
            <a:ext cx="2606040" cy="3200400"/>
          </a:xfrm>
          <a:prstGeom prst="roundRect">
            <a:avLst>
              <a:gd name="adj" fmla="val 4211"/>
            </a:avLst>
          </a:prstGeom>
          <a:solidFill>
            <a:srgbClr val="F5F3FB"/>
          </a:solidFill>
          <a:ln/>
          <a:effectLst>
            <a:outerShdw sx="100000" sy="100000" kx="0" ky="0" algn="bl" rotWithShape="0" blurRad="101600" dist="38100" dir="5400000">
              <a:srgbClr val="3A2E5F">
                <a:alpha val="1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3794760" y="1920240"/>
            <a:ext cx="685800" cy="685800"/>
          </a:xfrm>
          <a:prstGeom prst="ellipse">
            <a:avLst/>
          </a:prstGeom>
          <a:solidFill>
            <a:srgbClr val="17B8A6"/>
          </a:solidFill>
          <a:ln/>
        </p:spPr>
      </p:sp>
      <p:pic>
        <p:nvPicPr>
          <p:cNvPr id="11" name="Image 1" descr="/tmp/claude-0/-home-user-Salavat3476/1f57893f-24c3-5293-8814-e8366711ff5e/scratchpad/deck/assets/icon-calc-FFFFF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9926" y="2105406"/>
            <a:ext cx="315468" cy="31546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3794760" y="2770632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1C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Отчёт за неделю</a:t>
            </a:r>
            <a:endParaRPr lang="en-US" sz="1700" dirty="0"/>
          </a:p>
        </p:txBody>
      </p:sp>
      <p:sp>
        <p:nvSpPr>
          <p:cNvPr id="13" name="Text 8"/>
          <p:cNvSpPr/>
          <p:nvPr/>
        </p:nvSpPr>
        <p:spPr>
          <a:xfrm>
            <a:off x="3794760" y="3429000"/>
            <a:ext cx="1965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из ваших данных, по шаблону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6309360" y="1600200"/>
            <a:ext cx="2606040" cy="3200400"/>
          </a:xfrm>
          <a:prstGeom prst="roundRect">
            <a:avLst>
              <a:gd name="adj" fmla="val 4211"/>
            </a:avLst>
          </a:prstGeom>
          <a:solidFill>
            <a:srgbClr val="F5F3FB"/>
          </a:solidFill>
          <a:ln/>
          <a:effectLst>
            <a:outerShdw sx="100000" sy="100000" kx="0" ky="0" algn="bl" rotWithShape="0" blurRad="101600" dist="38100" dir="5400000">
              <a:srgbClr val="3A2E5F">
                <a:alpha val="18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6629400" y="1920240"/>
            <a:ext cx="685800" cy="685800"/>
          </a:xfrm>
          <a:prstGeom prst="ellipse">
            <a:avLst/>
          </a:prstGeom>
          <a:solidFill>
            <a:srgbClr val="241C40"/>
          </a:solidFill>
          <a:ln/>
        </p:spPr>
      </p:sp>
      <p:pic>
        <p:nvPicPr>
          <p:cNvPr id="16" name="Image 2" descr="/tmp/claude-0/-home-user-Salavat3476/1f57893f-24c3-5293-8814-e8366711ff5e/scratchpad/deck/assets/icon-list-FFFFF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4566" y="2105406"/>
            <a:ext cx="315468" cy="315468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6629400" y="2770632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1C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Договор по шаблону</a:t>
            </a:r>
            <a:endParaRPr lang="en-US" sz="1700" dirty="0"/>
          </a:p>
        </p:txBody>
      </p:sp>
      <p:sp>
        <p:nvSpPr>
          <p:cNvPr id="18" name="Text 12"/>
          <p:cNvSpPr/>
          <p:nvPr/>
        </p:nvSpPr>
        <p:spPr>
          <a:xfrm>
            <a:off x="6629400" y="3429000"/>
            <a:ext cx="1965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 подстановкой реквизитов</a:t>
            </a:r>
            <a:endParaRPr lang="en-US" sz="1300" dirty="0"/>
          </a:p>
        </p:txBody>
      </p:sp>
      <p:sp>
        <p:nvSpPr>
          <p:cNvPr id="19" name="Shape 13"/>
          <p:cNvSpPr/>
          <p:nvPr/>
        </p:nvSpPr>
        <p:spPr>
          <a:xfrm>
            <a:off x="9144000" y="1600200"/>
            <a:ext cx="2606040" cy="3200400"/>
          </a:xfrm>
          <a:prstGeom prst="roundRect">
            <a:avLst>
              <a:gd name="adj" fmla="val 4211"/>
            </a:avLst>
          </a:prstGeom>
          <a:solidFill>
            <a:srgbClr val="F5F3FB"/>
          </a:solidFill>
          <a:ln/>
          <a:effectLst>
            <a:outerShdw sx="100000" sy="100000" kx="0" ky="0" algn="bl" rotWithShape="0" blurRad="101600" dist="38100" dir="5400000">
              <a:srgbClr val="3A2E5F">
                <a:alpha val="18000"/>
              </a:srgbClr>
            </a:outerShdw>
          </a:effectLst>
        </p:spPr>
      </p:sp>
      <p:sp>
        <p:nvSpPr>
          <p:cNvPr id="20" name="Shape 14"/>
          <p:cNvSpPr/>
          <p:nvPr/>
        </p:nvSpPr>
        <p:spPr>
          <a:xfrm>
            <a:off x="9464040" y="1920240"/>
            <a:ext cx="685800" cy="685800"/>
          </a:xfrm>
          <a:prstGeom prst="ellipse">
            <a:avLst/>
          </a:prstGeom>
          <a:solidFill>
            <a:srgbClr val="8A5FBF"/>
          </a:solidFill>
          <a:ln/>
        </p:spPr>
      </p:sp>
      <p:pic>
        <p:nvPicPr>
          <p:cNvPr id="21" name="Image 3" descr="/tmp/claude-0/-home-user-Salavat3476/1f57893f-24c3-5293-8814-e8366711ff5e/scratchpad/deck/assets/icon-mail-FFFFFF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9206" y="2105406"/>
            <a:ext cx="315468" cy="315468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9464040" y="2770632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1C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Рассылка клиентам</a:t>
            </a:r>
            <a:endParaRPr lang="en-US" sz="1700" dirty="0"/>
          </a:p>
        </p:txBody>
      </p:sp>
      <p:sp>
        <p:nvSpPr>
          <p:cNvPr id="23" name="Text 16"/>
          <p:cNvSpPr/>
          <p:nvPr/>
        </p:nvSpPr>
        <p:spPr>
          <a:xfrm>
            <a:off x="9464040" y="3429000"/>
            <a:ext cx="1965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тоне бренда, без «воды»</a:t>
            </a:r>
            <a:endParaRPr lang="en-US" sz="1300" dirty="0"/>
          </a:p>
        </p:txBody>
      </p:sp>
      <p:sp>
        <p:nvSpPr>
          <p:cNvPr id="24" name="Text 17"/>
          <p:cNvSpPr/>
          <p:nvPr/>
        </p:nvSpPr>
        <p:spPr>
          <a:xfrm>
            <a:off x="640080" y="525780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6E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Черновик — за минуты. Вам остаётся проверить и отправить.</a:t>
            </a:r>
            <a:endParaRPr lang="en-US" sz="17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50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Salavat3476/1f57893f-24c3-5293-8814-e8366711ff5e/scratchpad/deck/assets/strip.png">    </p:cNvPr>
          <p:cNvPicPr>
            <a:picLocks noChangeAspect="1"/>
          </p:cNvPicPr>
          <p:nvPr/>
        </p:nvPicPr>
        <p:blipFill>
          <a:blip r:embed="rId1">
            <a:alphaModFix amt="65000"/>
          </a:blip>
          <a:stretch>
            <a:fillRect/>
          </a:stretch>
        </p:blipFill>
        <p:spPr>
          <a:xfrm>
            <a:off x="0" y="5458968"/>
            <a:ext cx="12188952" cy="139903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88720" y="2103120"/>
            <a:ext cx="981151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Минуты — вместо часов.</a:t>
            </a:r>
            <a:endParaRPr lang="en-US" sz="3600" dirty="0"/>
          </a:p>
        </p:txBody>
      </p:sp>
      <p:sp>
        <p:nvSpPr>
          <p:cNvPr id="4" name="Text 1"/>
          <p:cNvSpPr/>
          <p:nvPr/>
        </p:nvSpPr>
        <p:spPr>
          <a:xfrm>
            <a:off x="1828800" y="4114800"/>
            <a:ext cx="8531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FFC9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формулировка из вашего же приглашения: «за минуты, а не за часы»</a:t>
            </a:r>
            <a:endParaRPr lang="en-US" sz="17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Salavat3476/1f57893f-24c3-5293-8814-e8366711ff5e/scratchpad/deck/assets/scene-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416052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400" kern="0" dirty="0">
                <a:solidFill>
                  <a:srgbClr val="FFC9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МОДУЛЬ 6 · 20:10</a:t>
            </a:r>
            <a:endParaRPr lang="en-US" sz="1700" dirty="0"/>
          </a:p>
        </p:txBody>
      </p:sp>
      <p:sp>
        <p:nvSpPr>
          <p:cNvPr id="4" name="Text 1"/>
          <p:cNvSpPr/>
          <p:nvPr/>
        </p:nvSpPr>
        <p:spPr>
          <a:xfrm>
            <a:off x="777240" y="4572000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Заявки и CRM — без ручного ввода</a:t>
            </a:r>
            <a:endParaRPr lang="en-US" sz="4200" dirty="0"/>
          </a:p>
        </p:txBody>
      </p:sp>
      <p:sp>
        <p:nvSpPr>
          <p:cNvPr id="5" name="Text 2"/>
          <p:cNvSpPr/>
          <p:nvPr/>
        </p:nvSpPr>
        <p:spPr>
          <a:xfrm>
            <a:off x="777240" y="562356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4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агент как идеальный операционист</a:t>
            </a:r>
            <a:endParaRPr lang="en-US" sz="1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1C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Путь заявки без человека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640080" y="1600200"/>
            <a:ext cx="3419856" cy="3200400"/>
          </a:xfrm>
          <a:prstGeom prst="roundRect">
            <a:avLst>
              <a:gd name="adj" fmla="val 3429"/>
            </a:avLst>
          </a:prstGeom>
          <a:solidFill>
            <a:srgbClr val="F5F3FB"/>
          </a:solidFill>
          <a:ln/>
          <a:effectLst>
            <a:outerShdw sx="100000" sy="100000" kx="0" ky="0" algn="bl" rotWithShape="0" blurRad="101600" dist="38100" dir="5400000">
              <a:srgbClr val="3A2E5F">
                <a:alpha val="1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960120" y="1920240"/>
            <a:ext cx="685800" cy="685800"/>
          </a:xfrm>
          <a:prstGeom prst="ellipse">
            <a:avLst/>
          </a:prstGeom>
          <a:solidFill>
            <a:srgbClr val="FF7A3D"/>
          </a:solidFill>
          <a:ln/>
        </p:spPr>
      </p:sp>
      <p:pic>
        <p:nvPicPr>
          <p:cNvPr id="6" name="Image 0" descr="/tmp/claude-0/-home-user-Salavat3476/1f57893f-24c3-5293-8814-e8366711ff5e/scratchpad/deck/assets/icon-share-FFFF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5286" y="2105406"/>
            <a:ext cx="315468" cy="31546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60120" y="2770632"/>
            <a:ext cx="27797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1C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Заявка из любого канала</a:t>
            </a:r>
            <a:endParaRPr lang="en-US" sz="1700" dirty="0"/>
          </a:p>
        </p:txBody>
      </p:sp>
      <p:sp>
        <p:nvSpPr>
          <p:cNvPr id="8" name="Text 4"/>
          <p:cNvSpPr/>
          <p:nvPr/>
        </p:nvSpPr>
        <p:spPr>
          <a:xfrm>
            <a:off x="960120" y="3429000"/>
            <a:ext cx="27797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мессенджер, сайт, почта, звонок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4005072" y="2834640"/>
            <a:ext cx="4297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7A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600" dirty="0"/>
          </a:p>
        </p:txBody>
      </p:sp>
      <p:sp>
        <p:nvSpPr>
          <p:cNvPr id="10" name="Shape 6"/>
          <p:cNvSpPr/>
          <p:nvPr/>
        </p:nvSpPr>
        <p:spPr>
          <a:xfrm>
            <a:off x="4379976" y="1600200"/>
            <a:ext cx="3419856" cy="3200400"/>
          </a:xfrm>
          <a:prstGeom prst="roundRect">
            <a:avLst>
              <a:gd name="adj" fmla="val 3429"/>
            </a:avLst>
          </a:prstGeom>
          <a:solidFill>
            <a:srgbClr val="F5F3FB"/>
          </a:solidFill>
          <a:ln/>
          <a:effectLst>
            <a:outerShdw sx="100000" sy="100000" kx="0" ky="0" algn="bl" rotWithShape="0" blurRad="101600" dist="38100" dir="5400000">
              <a:srgbClr val="3A2E5F">
                <a:alpha val="18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700016" y="1920240"/>
            <a:ext cx="685800" cy="685800"/>
          </a:xfrm>
          <a:prstGeom prst="ellipse">
            <a:avLst/>
          </a:prstGeom>
          <a:solidFill>
            <a:srgbClr val="17B8A6"/>
          </a:solidFill>
          <a:ln/>
        </p:spPr>
      </p:sp>
      <p:pic>
        <p:nvPicPr>
          <p:cNvPr id="12" name="Image 1" descr="/tmp/claude-0/-home-user-Salavat3476/1f57893f-24c3-5293-8814-e8366711ff5e/scratchpad/deck/assets/icon-db-FFFFF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5182" y="2105406"/>
            <a:ext cx="315468" cy="31546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4700016" y="2770632"/>
            <a:ext cx="27797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1C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Агент вносит в CRM</a:t>
            </a:r>
            <a:endParaRPr lang="en-US" sz="1700" dirty="0"/>
          </a:p>
        </p:txBody>
      </p:sp>
      <p:sp>
        <p:nvSpPr>
          <p:cNvPr id="14" name="Text 9"/>
          <p:cNvSpPr/>
          <p:nvPr/>
        </p:nvSpPr>
        <p:spPr>
          <a:xfrm>
            <a:off x="4700016" y="3429000"/>
            <a:ext cx="27797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все поля, без опечаток, сразу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7744968" y="2834640"/>
            <a:ext cx="4297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7A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600" dirty="0"/>
          </a:p>
        </p:txBody>
      </p:sp>
      <p:sp>
        <p:nvSpPr>
          <p:cNvPr id="16" name="Shape 11"/>
          <p:cNvSpPr/>
          <p:nvPr/>
        </p:nvSpPr>
        <p:spPr>
          <a:xfrm>
            <a:off x="8119872" y="1600200"/>
            <a:ext cx="3419856" cy="3200400"/>
          </a:xfrm>
          <a:prstGeom prst="roundRect">
            <a:avLst>
              <a:gd name="adj" fmla="val 3429"/>
            </a:avLst>
          </a:prstGeom>
          <a:solidFill>
            <a:srgbClr val="F5F3FB"/>
          </a:solidFill>
          <a:ln/>
          <a:effectLst>
            <a:outerShdw sx="100000" sy="100000" kx="0" ky="0" algn="bl" rotWithShape="0" blurRad="101600" dist="38100" dir="5400000">
              <a:srgbClr val="3A2E5F">
                <a:alpha val="18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439912" y="1920240"/>
            <a:ext cx="685800" cy="685800"/>
          </a:xfrm>
          <a:prstGeom prst="ellipse">
            <a:avLst/>
          </a:prstGeom>
          <a:solidFill>
            <a:srgbClr val="241C40"/>
          </a:solidFill>
          <a:ln/>
        </p:spPr>
      </p:sp>
      <p:pic>
        <p:nvPicPr>
          <p:cNvPr id="18" name="Image 2" descr="/tmp/claude-0/-home-user-Salavat3476/1f57893f-24c3-5293-8814-e8366711ff5e/scratchpad/deck/assets/icon-bell-FFFFF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5078" y="2105406"/>
            <a:ext cx="315468" cy="315468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8439912" y="2770632"/>
            <a:ext cx="27797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1C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Менеджеру — напоминание</a:t>
            </a:r>
            <a:endParaRPr lang="en-US" sz="1700" dirty="0"/>
          </a:p>
        </p:txBody>
      </p:sp>
      <p:sp>
        <p:nvSpPr>
          <p:cNvPr id="20" name="Text 14"/>
          <p:cNvSpPr/>
          <p:nvPr/>
        </p:nvSpPr>
        <p:spPr>
          <a:xfrm>
            <a:off x="8439912" y="3429000"/>
            <a:ext cx="27797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кто, о чём и когда перезвонить</a:t>
            </a:r>
            <a:endParaRPr lang="en-US" sz="1300" dirty="0"/>
          </a:p>
        </p:txBody>
      </p:sp>
      <p:sp>
        <p:nvSpPr>
          <p:cNvPr id="21" name="Text 15"/>
          <p:cNvSpPr/>
          <p:nvPr/>
        </p:nvSpPr>
        <p:spPr>
          <a:xfrm>
            <a:off x="640080" y="525780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6E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Человек ничего не переносит руками.</a:t>
            </a:r>
            <a:endParaRPr lang="en-US" sz="17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50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Salavat3476/1f57893f-24c3-5293-8814-e8366711ff5e/scratchpad/deck/assets/strip.png">    </p:cNvPr>
          <p:cNvPicPr>
            <a:picLocks noChangeAspect="1"/>
          </p:cNvPicPr>
          <p:nvPr/>
        </p:nvPicPr>
        <p:blipFill>
          <a:blip r:embed="rId1">
            <a:alphaModFix amt="65000"/>
          </a:blip>
          <a:stretch>
            <a:fillRect/>
          </a:stretch>
        </p:blipFill>
        <p:spPr>
          <a:xfrm>
            <a:off x="0" y="5458968"/>
            <a:ext cx="12188952" cy="139903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88720" y="2103120"/>
            <a:ext cx="981151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Ни одна заявка не теряется.</a:t>
            </a:r>
            <a:endParaRPr lang="en-US" sz="3600" dirty="0"/>
          </a:p>
        </p:txBody>
      </p:sp>
      <p:sp>
        <p:nvSpPr>
          <p:cNvPr id="4" name="Text 1"/>
          <p:cNvSpPr/>
          <p:nvPr/>
        </p:nvSpPr>
        <p:spPr>
          <a:xfrm>
            <a:off x="1828800" y="4114800"/>
            <a:ext cx="8531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FFC9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каждая доходит до CRM и до менеджера</a:t>
            </a:r>
            <a:endParaRPr lang="en-US" sz="17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Salavat3476/1f57893f-24c3-5293-8814-e8366711ff5e/scratchpad/deck/assets/scene-plu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416052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400" kern="0" dirty="0">
                <a:solidFill>
                  <a:srgbClr val="FFC9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МОДУЛЬ 7 · 20:30</a:t>
            </a:r>
            <a:endParaRPr lang="en-US" sz="1700" dirty="0"/>
          </a:p>
        </p:txBody>
      </p:sp>
      <p:sp>
        <p:nvSpPr>
          <p:cNvPr id="4" name="Text 1"/>
          <p:cNvSpPr/>
          <p:nvPr/>
        </p:nvSpPr>
        <p:spPr>
          <a:xfrm>
            <a:off x="777240" y="4572000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Ваш план внедрения</a:t>
            </a:r>
            <a:endParaRPr lang="en-US" sz="4200" dirty="0"/>
          </a:p>
        </p:txBody>
      </p:sp>
      <p:sp>
        <p:nvSpPr>
          <p:cNvPr id="5" name="Text 2"/>
          <p:cNvSpPr/>
          <p:nvPr/>
        </p:nvSpPr>
        <p:spPr>
          <a:xfrm>
            <a:off x="777240" y="562356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4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автоматизировать первым — и сколько это сэкономит</a:t>
            </a:r>
            <a:endParaRPr lang="en-US" sz="1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1C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автоматизировать первым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640080" y="1600200"/>
            <a:ext cx="3419856" cy="3200400"/>
          </a:xfrm>
          <a:prstGeom prst="roundRect">
            <a:avLst>
              <a:gd name="adj" fmla="val 3429"/>
            </a:avLst>
          </a:prstGeom>
          <a:solidFill>
            <a:srgbClr val="F5F3FB"/>
          </a:solidFill>
          <a:ln/>
          <a:effectLst>
            <a:outerShdw sx="100000" sy="100000" kx="0" ky="0" algn="bl" rotWithShape="0" blurRad="101600" dist="38100" dir="5400000">
              <a:srgbClr val="3A2E5F">
                <a:alpha val="1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960120" y="1920240"/>
            <a:ext cx="685800" cy="685800"/>
          </a:xfrm>
          <a:prstGeom prst="ellipse">
            <a:avLst/>
          </a:prstGeom>
          <a:solidFill>
            <a:srgbClr val="FF7A3D"/>
          </a:solidFill>
          <a:ln/>
        </p:spPr>
      </p:sp>
      <p:pic>
        <p:nvPicPr>
          <p:cNvPr id="6" name="Image 0" descr="/tmp/claude-0/-home-user-Salavat3476/1f57893f-24c3-5293-8814-e8366711ff5e/scratchpad/deck/assets/icon-clock-FFFF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5286" y="2105406"/>
            <a:ext cx="315468" cy="31546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60120" y="2770632"/>
            <a:ext cx="27797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1C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Повторяется каждый день?</a:t>
            </a:r>
            <a:endParaRPr lang="en-US" sz="1700" dirty="0"/>
          </a:p>
        </p:txBody>
      </p:sp>
      <p:sp>
        <p:nvSpPr>
          <p:cNvPr id="8" name="Text 4"/>
          <p:cNvSpPr/>
          <p:nvPr/>
        </p:nvSpPr>
        <p:spPr>
          <a:xfrm>
            <a:off x="960120" y="3429000"/>
            <a:ext cx="27797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рутина — лучший кандидат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4379976" y="1600200"/>
            <a:ext cx="3419856" cy="3200400"/>
          </a:xfrm>
          <a:prstGeom prst="roundRect">
            <a:avLst>
              <a:gd name="adj" fmla="val 3429"/>
            </a:avLst>
          </a:prstGeom>
          <a:solidFill>
            <a:srgbClr val="F5F3FB"/>
          </a:solidFill>
          <a:ln/>
          <a:effectLst>
            <a:outerShdw sx="100000" sy="100000" kx="0" ky="0" algn="bl" rotWithShape="0" blurRad="101600" dist="38100" dir="5400000">
              <a:srgbClr val="3A2E5F">
                <a:alpha val="1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4700016" y="1920240"/>
            <a:ext cx="685800" cy="685800"/>
          </a:xfrm>
          <a:prstGeom prst="ellipse">
            <a:avLst/>
          </a:prstGeom>
          <a:solidFill>
            <a:srgbClr val="17B8A6"/>
          </a:solidFill>
          <a:ln/>
        </p:spPr>
      </p:sp>
      <p:pic>
        <p:nvPicPr>
          <p:cNvPr id="11" name="Image 1" descr="/tmp/claude-0/-home-user-Salavat3476/1f57893f-24c3-5293-8814-e8366711ff5e/scratchpad/deck/assets/icon-bolt-FFFFF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5182" y="2105406"/>
            <a:ext cx="315468" cy="31546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4700016" y="2770632"/>
            <a:ext cx="27797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1C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Съедает часы?</a:t>
            </a:r>
            <a:endParaRPr lang="en-US" sz="1700" dirty="0"/>
          </a:p>
        </p:txBody>
      </p:sp>
      <p:sp>
        <p:nvSpPr>
          <p:cNvPr id="13" name="Text 8"/>
          <p:cNvSpPr/>
          <p:nvPr/>
        </p:nvSpPr>
        <p:spPr>
          <a:xfrm>
            <a:off x="4700016" y="3429000"/>
            <a:ext cx="27797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чем дороже процесс, тем быстрее окупится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8119872" y="1600200"/>
            <a:ext cx="3419856" cy="3200400"/>
          </a:xfrm>
          <a:prstGeom prst="roundRect">
            <a:avLst>
              <a:gd name="adj" fmla="val 3429"/>
            </a:avLst>
          </a:prstGeom>
          <a:solidFill>
            <a:srgbClr val="F5F3FB"/>
          </a:solidFill>
          <a:ln/>
          <a:effectLst>
            <a:outerShdw sx="100000" sy="100000" kx="0" ky="0" algn="bl" rotWithShape="0" blurRad="101600" dist="38100" dir="5400000">
              <a:srgbClr val="3A2E5F">
                <a:alpha val="18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8439912" y="1920240"/>
            <a:ext cx="685800" cy="685800"/>
          </a:xfrm>
          <a:prstGeom prst="ellipse">
            <a:avLst/>
          </a:prstGeom>
          <a:solidFill>
            <a:srgbClr val="241C40"/>
          </a:solidFill>
          <a:ln/>
        </p:spPr>
      </p:sp>
      <p:pic>
        <p:nvPicPr>
          <p:cNvPr id="16" name="Image 2" descr="/tmp/claude-0/-home-user-Salavat3476/1f57893f-24c3-5293-8814-e8366711ff5e/scratchpad/deck/assets/icon-list-FFFFF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5078" y="2105406"/>
            <a:ext cx="315468" cy="315468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8439912" y="2770632"/>
            <a:ext cx="27797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1C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Есть чёткий шаблон?</a:t>
            </a:r>
            <a:endParaRPr lang="en-US" sz="1700" dirty="0"/>
          </a:p>
        </p:txBody>
      </p:sp>
      <p:sp>
        <p:nvSpPr>
          <p:cNvPr id="18" name="Text 12"/>
          <p:cNvSpPr/>
          <p:nvPr/>
        </p:nvSpPr>
        <p:spPr>
          <a:xfrm>
            <a:off x="8439912" y="3429000"/>
            <a:ext cx="27797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понятные правила = лёгкий старт</a:t>
            </a:r>
            <a:endParaRPr lang="en-US" sz="1300" dirty="0"/>
          </a:p>
        </p:txBody>
      </p:sp>
      <p:sp>
        <p:nvSpPr>
          <p:cNvPr id="19" name="Text 13"/>
          <p:cNvSpPr/>
          <p:nvPr/>
        </p:nvSpPr>
        <p:spPr>
          <a:xfrm>
            <a:off x="640080" y="525780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7A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Три «да» — это ваш первый агент.</a:t>
            </a:r>
            <a:endParaRPr lang="en-US" sz="17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1C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Считаем экономию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640080" y="2103120"/>
            <a:ext cx="2514600" cy="1554480"/>
          </a:xfrm>
          <a:prstGeom prst="roundRect">
            <a:avLst>
              <a:gd name="adj" fmla="val 7059"/>
            </a:avLst>
          </a:prstGeom>
          <a:solidFill>
            <a:srgbClr val="F5F3FB"/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237744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41C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часы в неделю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822960" y="292608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E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 этот процесс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3429000" y="2103120"/>
            <a:ext cx="2514600" cy="1554480"/>
          </a:xfrm>
          <a:prstGeom prst="roundRect">
            <a:avLst>
              <a:gd name="adj" fmla="val 7059"/>
            </a:avLst>
          </a:prstGeom>
          <a:solidFill>
            <a:srgbClr val="F5F3FB"/>
          </a:solidFill>
          <a:ln/>
        </p:spPr>
      </p:sp>
      <p:sp>
        <p:nvSpPr>
          <p:cNvPr id="8" name="Text 5"/>
          <p:cNvSpPr/>
          <p:nvPr/>
        </p:nvSpPr>
        <p:spPr>
          <a:xfrm>
            <a:off x="3611880" y="237744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41C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  ставка в час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3611880" y="292608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E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сотрудника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217920" y="2103120"/>
            <a:ext cx="2514600" cy="1554480"/>
          </a:xfrm>
          <a:prstGeom prst="roundRect">
            <a:avLst>
              <a:gd name="adj" fmla="val 7059"/>
            </a:avLst>
          </a:prstGeom>
          <a:solidFill>
            <a:srgbClr val="F5F3FB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0" y="237744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41C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  4 недели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8915400" y="2514600"/>
            <a:ext cx="548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6E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</a:t>
            </a:r>
            <a:endParaRPr lang="en-US" sz="3400" dirty="0"/>
          </a:p>
        </p:txBody>
      </p:sp>
      <p:sp>
        <p:nvSpPr>
          <p:cNvPr id="13" name="Shape 10"/>
          <p:cNvSpPr/>
          <p:nvPr/>
        </p:nvSpPr>
        <p:spPr>
          <a:xfrm>
            <a:off x="9464040" y="2103120"/>
            <a:ext cx="2084832" cy="1554480"/>
          </a:xfrm>
          <a:prstGeom prst="roundRect">
            <a:avLst>
              <a:gd name="adj" fmla="val 7059"/>
            </a:avLst>
          </a:prstGeom>
          <a:solidFill>
            <a:srgbClr val="FFF0E6"/>
          </a:solidFill>
          <a:ln/>
        </p:spPr>
      </p:sp>
      <p:sp>
        <p:nvSpPr>
          <p:cNvPr id="14" name="Text 11"/>
          <p:cNvSpPr/>
          <p:nvPr/>
        </p:nvSpPr>
        <p:spPr>
          <a:xfrm>
            <a:off x="9601200" y="2395728"/>
            <a:ext cx="18105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7A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экономия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FF7A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месяц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640080" y="457200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6E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Подставьте свои цифры — прямо сейчас.</a:t>
            </a:r>
            <a:endParaRPr lang="en-US" sz="17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1C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 забираете сегодня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640080" y="1600200"/>
            <a:ext cx="2606040" cy="3200400"/>
          </a:xfrm>
          <a:prstGeom prst="roundRect">
            <a:avLst>
              <a:gd name="adj" fmla="val 4211"/>
            </a:avLst>
          </a:prstGeom>
          <a:solidFill>
            <a:srgbClr val="F5F3FB"/>
          </a:solidFill>
          <a:ln/>
          <a:effectLst>
            <a:outerShdw sx="100000" sy="100000" kx="0" ky="0" algn="bl" rotWithShape="0" blurRad="101600" dist="38100" dir="5400000">
              <a:srgbClr val="3A2E5F">
                <a:alpha val="1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960120" y="1920240"/>
            <a:ext cx="685800" cy="685800"/>
          </a:xfrm>
          <a:prstGeom prst="ellipse">
            <a:avLst/>
          </a:prstGeom>
          <a:solidFill>
            <a:srgbClr val="FF7A3D"/>
          </a:solidFill>
          <a:ln/>
        </p:spPr>
      </p:sp>
      <p:pic>
        <p:nvPicPr>
          <p:cNvPr id="6" name="Image 0" descr="/tmp/claude-0/-home-user-Salavat3476/1f57893f-24c3-5293-8814-e8366711ff5e/scratchpad/deck/assets/icon-mic-FFFF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5286" y="2105406"/>
            <a:ext cx="315468" cy="31546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60120" y="2770632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1C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Навык голосового ввода</a:t>
            </a:r>
            <a:endParaRPr lang="en-US" sz="1700" dirty="0"/>
          </a:p>
        </p:txBody>
      </p:sp>
      <p:sp>
        <p:nvSpPr>
          <p:cNvPr id="8" name="Text 4"/>
          <p:cNvSpPr/>
          <p:nvPr/>
        </p:nvSpPr>
        <p:spPr>
          <a:xfrm>
            <a:off x="960120" y="3429000"/>
            <a:ext cx="1965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Handy настроен и работает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3474720" y="1600200"/>
            <a:ext cx="2606040" cy="3200400"/>
          </a:xfrm>
          <a:prstGeom prst="roundRect">
            <a:avLst>
              <a:gd name="adj" fmla="val 4211"/>
            </a:avLst>
          </a:prstGeom>
          <a:solidFill>
            <a:srgbClr val="F5F3FB"/>
          </a:solidFill>
          <a:ln/>
          <a:effectLst>
            <a:outerShdw sx="100000" sy="100000" kx="0" ky="0" algn="bl" rotWithShape="0" blurRad="101600" dist="38100" dir="5400000">
              <a:srgbClr val="3A2E5F">
                <a:alpha val="1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3794760" y="1920240"/>
            <a:ext cx="685800" cy="685800"/>
          </a:xfrm>
          <a:prstGeom prst="ellipse">
            <a:avLst/>
          </a:prstGeom>
          <a:solidFill>
            <a:srgbClr val="17B8A6"/>
          </a:solidFill>
          <a:ln/>
        </p:spPr>
      </p:sp>
      <p:pic>
        <p:nvPicPr>
          <p:cNvPr id="11" name="Image 1" descr="/tmp/claude-0/-home-user-Salavat3476/1f57893f-24c3-5293-8814-e8366711ff5e/scratchpad/deck/assets/icon-wand-FFFFF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9926" y="2105406"/>
            <a:ext cx="315468" cy="31546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3794760" y="2770632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1C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Формулу промпта</a:t>
            </a:r>
            <a:endParaRPr lang="en-US" sz="1700" dirty="0"/>
          </a:p>
        </p:txBody>
      </p:sp>
      <p:sp>
        <p:nvSpPr>
          <p:cNvPr id="13" name="Text 8"/>
          <p:cNvSpPr/>
          <p:nvPr/>
        </p:nvSpPr>
        <p:spPr>
          <a:xfrm>
            <a:off x="3794760" y="3429000"/>
            <a:ext cx="1965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Роль · Задача · Контекст · Формат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6309360" y="1600200"/>
            <a:ext cx="2606040" cy="3200400"/>
          </a:xfrm>
          <a:prstGeom prst="roundRect">
            <a:avLst>
              <a:gd name="adj" fmla="val 4211"/>
            </a:avLst>
          </a:prstGeom>
          <a:solidFill>
            <a:srgbClr val="F5F3FB"/>
          </a:solidFill>
          <a:ln/>
          <a:effectLst>
            <a:outerShdw sx="100000" sy="100000" kx="0" ky="0" algn="bl" rotWithShape="0" blurRad="101600" dist="38100" dir="5400000">
              <a:srgbClr val="3A2E5F">
                <a:alpha val="18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6629400" y="1920240"/>
            <a:ext cx="685800" cy="685800"/>
          </a:xfrm>
          <a:prstGeom prst="ellipse">
            <a:avLst/>
          </a:prstGeom>
          <a:solidFill>
            <a:srgbClr val="241C40"/>
          </a:solidFill>
          <a:ln/>
        </p:spPr>
      </p:sp>
      <p:pic>
        <p:nvPicPr>
          <p:cNvPr id="16" name="Image 2" descr="/tmp/claude-0/-home-user-Salavat3476/1f57893f-24c3-5293-8814-e8366711ff5e/scratchpad/deck/assets/icon-robot-FFFFF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4566" y="2105406"/>
            <a:ext cx="315468" cy="315468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6629400" y="2770632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1C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Первого агента</a:t>
            </a:r>
            <a:endParaRPr lang="en-US" sz="1700" dirty="0"/>
          </a:p>
        </p:txBody>
      </p:sp>
      <p:sp>
        <p:nvSpPr>
          <p:cNvPr id="18" name="Text 12"/>
          <p:cNvSpPr/>
          <p:nvPr/>
        </p:nvSpPr>
        <p:spPr>
          <a:xfrm>
            <a:off x="6629400" y="3429000"/>
            <a:ext cx="1965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отвечает клиентам уже сегодня</a:t>
            </a:r>
            <a:endParaRPr lang="en-US" sz="1300" dirty="0"/>
          </a:p>
        </p:txBody>
      </p:sp>
      <p:sp>
        <p:nvSpPr>
          <p:cNvPr id="19" name="Shape 13"/>
          <p:cNvSpPr/>
          <p:nvPr/>
        </p:nvSpPr>
        <p:spPr>
          <a:xfrm>
            <a:off x="9144000" y="1600200"/>
            <a:ext cx="2606040" cy="3200400"/>
          </a:xfrm>
          <a:prstGeom prst="roundRect">
            <a:avLst>
              <a:gd name="adj" fmla="val 4211"/>
            </a:avLst>
          </a:prstGeom>
          <a:solidFill>
            <a:srgbClr val="F5F3FB"/>
          </a:solidFill>
          <a:ln/>
          <a:effectLst>
            <a:outerShdw sx="100000" sy="100000" kx="0" ky="0" algn="bl" rotWithShape="0" blurRad="101600" dist="38100" dir="5400000">
              <a:srgbClr val="3A2E5F">
                <a:alpha val="18000"/>
              </a:srgbClr>
            </a:outerShdw>
          </a:effectLst>
        </p:spPr>
      </p:sp>
      <p:sp>
        <p:nvSpPr>
          <p:cNvPr id="20" name="Shape 14"/>
          <p:cNvSpPr/>
          <p:nvPr/>
        </p:nvSpPr>
        <p:spPr>
          <a:xfrm>
            <a:off x="9464040" y="1920240"/>
            <a:ext cx="685800" cy="685800"/>
          </a:xfrm>
          <a:prstGeom prst="ellipse">
            <a:avLst/>
          </a:prstGeom>
          <a:solidFill>
            <a:srgbClr val="8A5FBF"/>
          </a:solidFill>
          <a:ln/>
        </p:spPr>
      </p:sp>
      <p:pic>
        <p:nvPicPr>
          <p:cNvPr id="21" name="Image 3" descr="/tmp/claude-0/-home-user-Salavat3476/1f57893f-24c3-5293-8814-e8366711ff5e/scratchpad/deck/assets/icon-target-FFFFFF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9206" y="2105406"/>
            <a:ext cx="315468" cy="315468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9464040" y="2770632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1C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План внедрения</a:t>
            </a:r>
            <a:endParaRPr lang="en-US" sz="1700" dirty="0"/>
          </a:p>
        </p:txBody>
      </p:sp>
      <p:sp>
        <p:nvSpPr>
          <p:cNvPr id="23" name="Text 16"/>
          <p:cNvSpPr/>
          <p:nvPr/>
        </p:nvSpPr>
        <p:spPr>
          <a:xfrm>
            <a:off x="9464040" y="3429000"/>
            <a:ext cx="1965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процесс выбран, экономия посчитана</a:t>
            </a:r>
            <a:endParaRPr lang="en-US" sz="13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1C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Домашнее задание — до завтра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640080" y="1600200"/>
            <a:ext cx="3419856" cy="3200400"/>
          </a:xfrm>
          <a:prstGeom prst="roundRect">
            <a:avLst>
              <a:gd name="adj" fmla="val 3429"/>
            </a:avLst>
          </a:prstGeom>
          <a:solidFill>
            <a:srgbClr val="F5F3FB"/>
          </a:solidFill>
          <a:ln/>
          <a:effectLst>
            <a:outerShdw sx="100000" sy="100000" kx="0" ky="0" algn="bl" rotWithShape="0" blurRad="101600" dist="38100" dir="5400000">
              <a:srgbClr val="3A2E5F">
                <a:alpha val="1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960120" y="1920240"/>
            <a:ext cx="685800" cy="685800"/>
          </a:xfrm>
          <a:prstGeom prst="ellipse">
            <a:avLst/>
          </a:prstGeom>
          <a:solidFill>
            <a:srgbClr val="FF7A3D"/>
          </a:solidFill>
          <a:ln/>
        </p:spPr>
      </p:sp>
      <p:pic>
        <p:nvPicPr>
          <p:cNvPr id="6" name="Image 0" descr="/tmp/claude-0/-home-user-Salavat3476/1f57893f-24c3-5293-8814-e8366711ff5e/scratchpad/deck/assets/icon-mic-FFFF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5286" y="2105406"/>
            <a:ext cx="315468" cy="31546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60120" y="2770632"/>
            <a:ext cx="27797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1C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Надиктуйте три задачи</a:t>
            </a:r>
            <a:endParaRPr lang="en-US" sz="1700" dirty="0"/>
          </a:p>
        </p:txBody>
      </p:sp>
      <p:sp>
        <p:nvSpPr>
          <p:cNvPr id="8" name="Text 4"/>
          <p:cNvSpPr/>
          <p:nvPr/>
        </p:nvSpPr>
        <p:spPr>
          <a:xfrm>
            <a:off x="960120" y="3429000"/>
            <a:ext cx="27797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через Handy — любые рабочие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4379976" y="1600200"/>
            <a:ext cx="3419856" cy="3200400"/>
          </a:xfrm>
          <a:prstGeom prst="roundRect">
            <a:avLst>
              <a:gd name="adj" fmla="val 3429"/>
            </a:avLst>
          </a:prstGeom>
          <a:solidFill>
            <a:srgbClr val="F5F3FB"/>
          </a:solidFill>
          <a:ln/>
          <a:effectLst>
            <a:outerShdw sx="100000" sy="100000" kx="0" ky="0" algn="bl" rotWithShape="0" blurRad="101600" dist="38100" dir="5400000">
              <a:srgbClr val="3A2E5F">
                <a:alpha val="1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4700016" y="1920240"/>
            <a:ext cx="685800" cy="685800"/>
          </a:xfrm>
          <a:prstGeom prst="ellipse">
            <a:avLst/>
          </a:prstGeom>
          <a:solidFill>
            <a:srgbClr val="17B8A6"/>
          </a:solidFill>
          <a:ln/>
        </p:spPr>
      </p:sp>
      <p:pic>
        <p:nvPicPr>
          <p:cNvPr id="11" name="Image 1" descr="/tmp/claude-0/-home-user-Salavat3476/1f57893f-24c3-5293-8814-e8366711ff5e/scratchpad/deck/assets/icon-wand-FFFFF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5182" y="2105406"/>
            <a:ext cx="315468" cy="31546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4700016" y="2770632"/>
            <a:ext cx="27797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1C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Один промпт по формуле</a:t>
            </a:r>
            <a:endParaRPr lang="en-US" sz="1700" dirty="0"/>
          </a:p>
        </p:txBody>
      </p:sp>
      <p:sp>
        <p:nvSpPr>
          <p:cNvPr id="13" name="Text 8"/>
          <p:cNvSpPr/>
          <p:nvPr/>
        </p:nvSpPr>
        <p:spPr>
          <a:xfrm>
            <a:off x="4700016" y="3429000"/>
            <a:ext cx="27797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для самой частой вашей задачи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8119872" y="1600200"/>
            <a:ext cx="3419856" cy="3200400"/>
          </a:xfrm>
          <a:prstGeom prst="roundRect">
            <a:avLst>
              <a:gd name="adj" fmla="val 3429"/>
            </a:avLst>
          </a:prstGeom>
          <a:solidFill>
            <a:srgbClr val="F5F3FB"/>
          </a:solidFill>
          <a:ln/>
          <a:effectLst>
            <a:outerShdw sx="100000" sy="100000" kx="0" ky="0" algn="bl" rotWithShape="0" blurRad="101600" dist="38100" dir="5400000">
              <a:srgbClr val="3A2E5F">
                <a:alpha val="18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8439912" y="1920240"/>
            <a:ext cx="685800" cy="685800"/>
          </a:xfrm>
          <a:prstGeom prst="ellipse">
            <a:avLst/>
          </a:prstGeom>
          <a:solidFill>
            <a:srgbClr val="241C40"/>
          </a:solidFill>
          <a:ln/>
        </p:spPr>
      </p:sp>
      <p:pic>
        <p:nvPicPr>
          <p:cNvPr id="16" name="Image 2" descr="/tmp/claude-0/-home-user-Salavat3476/1f57893f-24c3-5293-8814-e8366711ff5e/scratchpad/deck/assets/icon-filter-FFFFF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5078" y="2105406"/>
            <a:ext cx="315468" cy="315468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8439912" y="2770632"/>
            <a:ext cx="27797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1C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Выберите процесс</a:t>
            </a:r>
            <a:endParaRPr lang="en-US" sz="1700" dirty="0"/>
          </a:p>
        </p:txBody>
      </p:sp>
      <p:sp>
        <p:nvSpPr>
          <p:cNvPr id="18" name="Text 12"/>
          <p:cNvSpPr/>
          <p:nvPr/>
        </p:nvSpPr>
        <p:spPr>
          <a:xfrm>
            <a:off x="8439912" y="3429000"/>
            <a:ext cx="27797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который отдадите агенту первым</a:t>
            </a:r>
            <a:endParaRPr lang="en-US" sz="1300" dirty="0"/>
          </a:p>
        </p:txBody>
      </p:sp>
      <p:sp>
        <p:nvSpPr>
          <p:cNvPr id="19" name="Text 13"/>
          <p:cNvSpPr/>
          <p:nvPr/>
        </p:nvSpPr>
        <p:spPr>
          <a:xfrm>
            <a:off x="640080" y="525780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7A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День 2 — завтра в 18:00. Продолжаем строить.</a:t>
            </a:r>
            <a:endParaRPr lang="en-US" sz="17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Salavat3476/1f57893f-24c3-5293-8814-e8366711ff5e/scratchpad/deck/assets/scene-suns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438912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C9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ДЕНЬ 1 — ПРОЙДЕН</a:t>
            </a:r>
            <a:endParaRPr lang="en-US" sz="2000" dirty="0"/>
          </a:p>
        </p:txBody>
      </p:sp>
      <p:sp>
        <p:nvSpPr>
          <p:cNvPr id="4" name="Text 1"/>
          <p:cNvSpPr/>
          <p:nvPr/>
        </p:nvSpPr>
        <p:spPr>
          <a:xfrm>
            <a:off x="777240" y="489204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Ваш цифровой сотрудник уже на смене.</a:t>
            </a:r>
            <a:endParaRPr lang="en-US" sz="3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Цифровой сотрудник — День 1</dc:title>
  <dc:subject>PptxGenJS Presentation</dc:subject>
  <dc:creator>Салават</dc:creator>
  <cp:lastModifiedBy>Салават</cp:lastModifiedBy>
  <cp:revision>1</cp:revision>
  <dcterms:created xsi:type="dcterms:W3CDTF">2026-07-31T04:50:35Z</dcterms:created>
  <dcterms:modified xsi:type="dcterms:W3CDTF">2026-07-31T04:50:35Z</dcterms:modified>
</cp:coreProperties>
</file>