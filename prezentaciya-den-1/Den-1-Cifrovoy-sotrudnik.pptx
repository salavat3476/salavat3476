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слайд висит с 17:45, старт ровно в 18:00.
До старта: Handy запущен и проверен, микрофон работает, агент для демо №2 открыт в соседней вкладке, фоновая музыка играет.
Приветствие — 2 минуты, без долгой самопрезентации: одна фраза о себе и сразу обещание вечера: «через три часа у вас будет первый цифровой сотрудник и план внедрения».
【пометка】 Имя спикера и логотип не добавлены — брифа с брендингом нет, вставить при необходимости.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18:02–18:05.
Хук из видеосценария приглашения. Произнести медленно, выдержать паузу после фразы.
Сразу мостик: «Не верите? Смотрите — прямо сейчас, без слайдов».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18:05–18:12. ДЕМО ИДЁТ ПЕРВЫМ НОМЕРОМ — до любой теории (правило брифа).
Сценарий: зажать хоткей Handy, голосом продиктовать: «Напиши вежливый ответ клиенту, который спрашивает про сроки доставки, и предложи два варианта». Показать, как текст появляется и агент выполняет.
Проговаривать вслух каждое действие. После результата — тишина 3 секунды, пусть зал осознает.
【пометка】 Подготовить запасной вариант: записанный ролик демо на случай отказа микрофона.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18:12–18:13.
Закрепление демо. Источник цифры — видеосценарий приглашения («найму сотрудника за 60 секунд»).
【пометка】 Сверить формулировку с proof-bank: файл не найден в репозитории, цифра взята из masterclass-video-script.md.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18:13–18:15. Пройти за минуту-полторы, не зачитывать каждый пункт.
Обещание: «в 21:00 вы уйдёте с работающим навыком, первым агентом и планом внедрения».
Показать, где перерыв, чтобы зал не ждал его раньше.
【пометка】 Тайминг модулей — по умолчанию (по 20 минут); сверить с брифом NOCHNAYA-SESSIYA.md, когда он появится.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18:15–18:35 (20 минут на модуль 1).
Переход: «То, что вы видели, — не фокус. Разберёмся, кто этот сотрудник и что он умеет».
Полноэкранная сцена Зверограда — дать 2 секунды на разглядывание, не тараторить поверх.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18:16–18:24.
По каждой карточке — микро-история из практики (истории и цифры кейсов — только из proof-bank).
Формулировки — из видеосценария: отвечает клиентам, ведёт заявки в CRM, готовит отчёты и документы.
Акцент: это не «когда-нибудь потом», это работает сегодня.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18:24–18:32.
Снять три главных возражения: «нужны программисты», «это дорого», «это сырое».
«Сотни компаний» — формулировка из видеосценария. 【пометка】 сверить с proof-bank, при наличии точной цифры — заменить.
В конце модуля — вопрос залу: «у кого из вас рутина съедает больше часа в день?» — поднятые руки станут мостиком к М2.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18:32–18:35. Воздушный слайд — дать повисеть.
Цифра из видеосценария приглашения. 【пометка】 сверить с proof-bank.
Шутка-мостик: «единственный сотрудник, который не просится в отпуск в августе».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18:35–18:55.
Переход: «Чтобы командовать цифровым сотрудником, не нужно даже печатать».
Здесь зал впервые повторяет за спикером — убедиться, что у всех установлен Handy (ссылку — в чат заранее).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18:36–18:44. Показать ещё раз медленно, теперь с объяснением каждого шага.
Handy — бесплатное приложение с открытым кодом, распознавание идёт локально на компьютере. 【пометка】 проверить актуальность фактов на handy.computer перед показом.
Подчеркнуть: текст появляется в ЛЮБОМ окне — почта, мессенджер, CRM, документ.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18:44–18:52. Зал делает вместе со спикером, по одной задаче за раз.
Ходить по залу, помогать тем, у кого не срабатывает хоткей.
Правило вечера: «Сначала мысль — потом клавиша»: сформулируй фразу в голове, затем диктуй без пауз.
Быстрый шеринг: 2–3 участника зачитывают, что получилось.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18:52–18:55.
【пометка】 На слайде сознательно нет цифры скорости: в proof-bank её найти не удалось. Если в proof-bank есть подтверждённое сравнение (например, «в N раз быстрее») — назвать его устно или добавить на слайд.
Мостик к М3: «скорость есть — теперь научимся формулировать так, чтобы агент понимал с первого раза».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18:55–19:15.
Ключевая мысль модуля: промпт — не заклинание, а обычное техзадание сотруднику.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18:56–19:04.
Разобрать каждый элемент на живом примере — том самом письме клиенту из практики М2.
Роль: «ты — менеджер по продажам». Задача: «ответь на вопрос о сроках». Контекст: «доставка 3–5 дней, клиент торопится». Формат: «5 предложений, дружелюбно, без канцелярита».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19:04–19:11. Показать вживую оба промпта и оба результата агента — контраст продаёт формулу лучше слов.
Затем зал переписывает свой промпт из практики М2 по формуле.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19:11–19:15. Итог модуля 3 — одна мысль, без комментариев сверх фразы.
Мостик к М4: «формула есть — пора нанимать первого агента на настоящую работу».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19:15–19:35. Это второе большое демо вечера.
Энергию держать высоко: до перерыва 20 минут, зал уже подустал — больше действия, меньше теории.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19:16–19:22.
Сценарий из видеоприглашения: клиент пишет — агент мгновенно отвечает.
Обязательно проговорить третий шаг: сложное агент передаёт человеку. Это снимает страх «робот нахамит клиенту».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19:22–19:33. ДЕМО №2: живая настройка агента, голосом через Handy.
Взять бизнес добровольца из зала — его частые вопросы, его тон. Так демо становится личным для зала.
Через 4 пункта чек-листа пройти по порядку, каждый диктуется голосом.
【пометка】 Платформа для агента в брифе не указана — выбрать заранее ту, что используется в программе тренинга, и отрепетировать демо.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19:35–19:50, ровно 15 минут — объявить время возврата вслух.
Включить музыку. Остаться у сцены: кулуарные вопросы в перерыве — самые честные.
За 2 минуты до конца перерыва — голосом позвать зал на места.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19:50–20:10.
Рестарт после перерыва — короткий вопрос залу: «что успели обсудить в перерыве?» — 1–2 ответа, и в бой.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19:51–20:02. По каждой карточке — показать готовый пример документа (заготовить заранее).
Типы документов — из видеосценария: отчёты и документы; конкретный список — по умолчанию. 【пометка】 сверить набор с программой тренинга.
Практика: каждый выбирает один документ и диктует промпт для него по формуле М3.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20:02–20:10 (оставшееся время — на практику из предыдущего слайда).
Цифр на слайде нет сознательно: конкретные минуты/часы — только из proof-bank. 【пометка】 при наличии кейса в proof-bank («КП за N минут вместо N часов») — назвать его здесь устно.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20:10–20:30.
Мостик: «агент умеет говорить и писать — теперь научим его вести учёт».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20:11–20:22. Показать на экране реальный сценарий: заявка из мессенджера появляется в CRM (сценарий b-roll из видеоприглашения).
Боль, на которую давим: потерянные заявки и ошибки ручного переноса.
【пометка】 Конкретная CRM для демо в брифе не указана — использовать ту, что в программе тренинга.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20:22–20:30 (запас — на вопросы по модулю).
Одна мысль на слайд. Дать залу примерить на свой поток заявок: «сколько заявок в месяц у вас тонет?» — риторический вопрос.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20:30–20:50. Самый практичный модуль — участники работают со своим бизнесом.
Обещание из приглашения: «уйдёте с готовым планом: что автоматизировать первым и сколько это сэкономит именно вам».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20:31–20:40. Каждый участник письменно (или голосом в заметку) отвечает на три вопроса для 3–5 своих процессов.
Процесс, набравший три «да», — первый кандидат на автоматизацию.
Пройти по залу, помочь 2–3 участникам вслух — их примеры полезны всем.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20:40–20:48. Формула без готовых цифр — каждый подставляет свои: часы на процесс в неделю × ставка в час × 4 недели.
Посчитать вслух на примере добровольца из зала. Его цифра и станет «большой цифрой» этого слайда — живой, а не нарисованной.
【пометка】 Кейсовые цифры экономии со сцены — только из proof-bank; на слайде их нет намеренно.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20:50–20:54. Итог дня — пройтись по четырём пунктам, каждый привязать к моменту вечера («помните, как…»).
Это слайд-зеркало обещания с маршрута вечера: обещали — сделали.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20:54–20:57.
ДЗ маленькое и выполнимое за 20 минут — так его реально сделают.
【пометка】 Время и тема Дня 2 — по умолчанию («завтра, 18:00»); сверить с программой тренинга и брифом.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ТАЙМИНГ: 20:57–21:00. Благодарность, аплодисменты, общее фото на фоне слайда.
Напомнить про ДЗ одной фразой. Финал ровно в 21:00 — уважение ко времени зала тоже продаёт день 2.
【пометка】 Контакты/QR-код для связи не добавлены — брифа с контактами нет; при необходимости вставить на этот слайд.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lavat3476/1f57893f-24c3-5293-8814-e8366711ff5e/scratchpad/deck/assets/scene-sun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3611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ВЕЧЕРНИЙ ИНТЕНСИВ · 18:00–21:00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777240" y="40690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Цифровой сотрудник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777240" y="53492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1 · 7 модулей · ваш первый ИИ-агент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0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lavat3476/1f57893f-24c3-5293-8814-e8366711ff5e/scratchpad/deck/assets/strip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0" y="5458968"/>
            <a:ext cx="12188952" cy="1399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103120"/>
            <a:ext cx="9811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 вы наймёте сотрудника,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который работает круглосуточно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не просит зарплату.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828800" y="411480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он выйдет на работу ещё до конца вечера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 №1: ставлю задачу голосом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1920240"/>
            <a:ext cx="685800" cy="685800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6" name="Image 0" descr="/tmp/claude-0/-home-user-Salavat3476/1f57893f-24c3-5293-8814-e8366711ff5e/scratchpad/deck/assets/icon-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286" y="2105406"/>
            <a:ext cx="315468" cy="315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Зажал клавишу — говорю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60120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обычная человеческая речь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005072" y="2834640"/>
            <a:ext cx="429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4379976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00016" y="1920240"/>
            <a:ext cx="685800" cy="68580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2" name="Image 1" descr="/tmp/claude-0/-home-user-Salavat3476/1f57893f-24c3-5293-8814-e8366711ff5e/scratchpad/deck/assets/icon-mic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182" y="2105406"/>
            <a:ext cx="315468" cy="3154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0016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Handy превращает речь в текст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700016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мгновенно, в любом окне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744968" y="2834640"/>
            <a:ext cx="429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1"/>
          <p:cNvSpPr/>
          <p:nvPr/>
        </p:nvSpPr>
        <p:spPr>
          <a:xfrm>
            <a:off x="8119872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39912" y="1920240"/>
            <a:ext cx="685800" cy="685800"/>
          </a:xfrm>
          <a:prstGeom prst="ellipse">
            <a:avLst/>
          </a:prstGeom>
          <a:solidFill>
            <a:srgbClr val="241C40"/>
          </a:solidFill>
          <a:ln/>
        </p:spPr>
      </p:sp>
      <p:pic>
        <p:nvPicPr>
          <p:cNvPr id="18" name="Image 2" descr="/tmp/claude-0/-home-user-Salavat3476/1f57893f-24c3-5293-8814-e8366711ff5e/scratchpad/deck/assets/icon-robot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078" y="2105406"/>
            <a:ext cx="315468" cy="3154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39912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выполняет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439912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— у вас на глазах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монтажа. Без заготовок. Вживую.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0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lavat3476/1f57893f-24c3-5293-8814-e8366711ff5e/scratchpad/deck/assets/strip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0" y="5458968"/>
            <a:ext cx="12188952" cy="1399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600200"/>
            <a:ext cx="109087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секунд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1463040" y="3749040"/>
            <a:ext cx="926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голосовой команды — до готового результата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463040" y="4434840"/>
            <a:ext cx="9262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только что видели это сами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вечера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822960" y="1673352"/>
            <a:ext cx="201168" cy="201168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5" name="Text 2"/>
          <p:cNvSpPr/>
          <p:nvPr/>
        </p:nvSpPr>
        <p:spPr>
          <a:xfrm>
            <a:off x="1207008" y="15544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18:00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240280" y="1554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 и демо голосом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2606040"/>
            <a:ext cx="201168" cy="201168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8" name="Text 5"/>
          <p:cNvSpPr/>
          <p:nvPr/>
        </p:nvSpPr>
        <p:spPr>
          <a:xfrm>
            <a:off x="1207008" y="248716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18:15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240280" y="24871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М1 · Цифровой сотрудник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3538728"/>
            <a:ext cx="201168" cy="201168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1" name="Text 8"/>
          <p:cNvSpPr/>
          <p:nvPr/>
        </p:nvSpPr>
        <p:spPr>
          <a:xfrm>
            <a:off x="1207008" y="341985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18:35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240280" y="34198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М2 · Голос вместо клавиатуры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2960" y="4471416"/>
            <a:ext cx="201168" cy="201168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4" name="Text 11"/>
          <p:cNvSpPr/>
          <p:nvPr/>
        </p:nvSpPr>
        <p:spPr>
          <a:xfrm>
            <a:off x="1207008" y="435254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18:55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240280" y="43525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М3 · Промпт = ТЗ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2960" y="5404104"/>
            <a:ext cx="201168" cy="201168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7" name="Text 14"/>
          <p:cNvSpPr/>
          <p:nvPr/>
        </p:nvSpPr>
        <p:spPr>
          <a:xfrm>
            <a:off x="1207008" y="52852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19:15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2240280" y="5285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М4 · Агент для клиентов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92240" y="1673352"/>
            <a:ext cx="201168" cy="201168"/>
          </a:xfrm>
          <a:prstGeom prst="ellipse">
            <a:avLst/>
          </a:prstGeom>
          <a:solidFill>
            <a:srgbClr val="FFC94D"/>
          </a:solidFill>
          <a:ln/>
        </p:spPr>
      </p:sp>
      <p:sp>
        <p:nvSpPr>
          <p:cNvPr id="20" name="Text 17"/>
          <p:cNvSpPr/>
          <p:nvPr/>
        </p:nvSpPr>
        <p:spPr>
          <a:xfrm>
            <a:off x="6876288" y="15544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19:35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909560" y="1554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Перерыв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92240" y="2606040"/>
            <a:ext cx="201168" cy="201168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23" name="Text 20"/>
          <p:cNvSpPr/>
          <p:nvPr/>
        </p:nvSpPr>
        <p:spPr>
          <a:xfrm>
            <a:off x="6876288" y="248716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19:50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7909560" y="24871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М5 · Документы и отчёты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492240" y="3538728"/>
            <a:ext cx="201168" cy="201168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26" name="Text 23"/>
          <p:cNvSpPr/>
          <p:nvPr/>
        </p:nvSpPr>
        <p:spPr>
          <a:xfrm>
            <a:off x="6876288" y="341985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20:10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7909560" y="34198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М6 · Заявки и CRM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92240" y="4471416"/>
            <a:ext cx="201168" cy="201168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29" name="Text 26"/>
          <p:cNvSpPr/>
          <p:nvPr/>
        </p:nvSpPr>
        <p:spPr>
          <a:xfrm>
            <a:off x="6876288" y="435254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20:30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7909560" y="43525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М7 · План внедрения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492240" y="5404104"/>
            <a:ext cx="201168" cy="201168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32" name="Text 29"/>
          <p:cNvSpPr/>
          <p:nvPr/>
        </p:nvSpPr>
        <p:spPr>
          <a:xfrm>
            <a:off x="6876288" y="52852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20:50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7909560" y="5285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и ДЗ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lavat3476/1f57893f-24c3-5293-8814-e8366711ff5e/scratchpad/deck/assets/scene-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160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1 · 18:15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777240" y="4572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Знакомьтесь: цифровой сотрудник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он и почему появился именно сейчас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он умеет уже сегодня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1920240"/>
            <a:ext cx="685800" cy="685800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6" name="Image 0" descr="/tmp/claude-0/-home-user-Salavat3476/1f57893f-24c3-5293-8814-e8366711ff5e/scratchpad/deck/assets/icon-cha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286" y="2105406"/>
            <a:ext cx="315468" cy="315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Отвечает клиентам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60120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мессенджерах, мгновенно, в тоне бренда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379976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700016" y="1920240"/>
            <a:ext cx="685800" cy="68580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1" name="Image 1" descr="/tmp/claude-0/-home-user-Salavat3476/1f57893f-24c3-5293-8814-e8366711ff5e/scratchpad/deck/assets/icon-db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182" y="2105406"/>
            <a:ext cx="315468" cy="3154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00016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Ведёт заявки в CRM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4700016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принимает, заполняет, ничего не забывает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119872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439912" y="1920240"/>
            <a:ext cx="685800" cy="685800"/>
          </a:xfrm>
          <a:prstGeom prst="ellipse">
            <a:avLst/>
          </a:prstGeom>
          <a:solidFill>
            <a:srgbClr val="241C40"/>
          </a:solidFill>
          <a:ln/>
        </p:spPr>
      </p:sp>
      <p:pic>
        <p:nvPicPr>
          <p:cNvPr id="16" name="Image 2" descr="/tmp/claude-0/-home-user-Salavat3476/1f57893f-24c3-5293-8814-e8366711ff5e/scratchpad/deck/assets/icon-doc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078" y="2105406"/>
            <a:ext cx="315468" cy="3154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39912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Готовит отчёты и документы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8439912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шаблону, без напоминаний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минуты — а не за часы.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доступно каждому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5F3FB"/>
          </a:solidFill>
          <a:ln/>
        </p:spPr>
      </p:sp>
      <p:sp>
        <p:nvSpPr>
          <p:cNvPr id="5" name="Shape 2"/>
          <p:cNvSpPr/>
          <p:nvPr/>
        </p:nvSpPr>
        <p:spPr>
          <a:xfrm>
            <a:off x="1097280" y="1874520"/>
            <a:ext cx="685800" cy="685800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6" name="Image 0" descr="/tmp/claude-0/-home-user-Salavat3476/1f57893f-24c3-5293-8814-e8366711ff5e/scratchpad/deck/assets/icon-user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446" y="2059686"/>
            <a:ext cx="315468" cy="315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48840" y="180136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программистов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2148840" y="225856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настраивается словами, а не кодом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310896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5F3FB"/>
          </a:solidFill>
          <a:ln/>
        </p:spPr>
      </p:sp>
      <p:sp>
        <p:nvSpPr>
          <p:cNvPr id="10" name="Shape 6"/>
          <p:cNvSpPr/>
          <p:nvPr/>
        </p:nvSpPr>
        <p:spPr>
          <a:xfrm>
            <a:off x="1097280" y="3383280"/>
            <a:ext cx="685800" cy="68580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1" name="Image 1" descr="/tmp/claude-0/-home-user-Salavat3476/1f57893f-24c3-5293-8814-e8366711ff5e/scratchpad/deck/assets/icon-calc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446" y="3568446"/>
            <a:ext cx="315468" cy="3154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148840" y="33101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миллионных бюджетов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2148840" y="376732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дешевле стажёра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22960" y="461772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5F3FB"/>
          </a:solidFill>
          <a:ln/>
        </p:spPr>
      </p:sp>
      <p:sp>
        <p:nvSpPr>
          <p:cNvPr id="15" name="Shape 10"/>
          <p:cNvSpPr/>
          <p:nvPr/>
        </p:nvSpPr>
        <p:spPr>
          <a:xfrm>
            <a:off x="1097280" y="4892040"/>
            <a:ext cx="685800" cy="685800"/>
          </a:xfrm>
          <a:prstGeom prst="ellipse">
            <a:avLst/>
          </a:prstGeom>
          <a:solidFill>
            <a:srgbClr val="241C40"/>
          </a:solidFill>
          <a:ln/>
        </p:spPr>
      </p:sp>
      <p:pic>
        <p:nvPicPr>
          <p:cNvPr id="16" name="Image 2" descr="/tmp/claude-0/-home-user-Salavat3476/1f57893f-24c3-5293-8814-e8366711ff5e/scratchpad/deck/assets/icon-rocket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446" y="5077206"/>
            <a:ext cx="315468" cy="3154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148840" y="481888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работает в сотнях компаний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2148840" y="527608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эксперимент, а практика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0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lavat3476/1f57893f-24c3-5293-8814-e8366711ff5e/scratchpad/deck/assets/strip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0" y="5458968"/>
            <a:ext cx="12188952" cy="1399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600200"/>
            <a:ext cx="109087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1463040" y="3749040"/>
            <a:ext cx="926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болеет · не выгорает · не уходит в отпуск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lavat3476/1f57893f-24c3-5293-8814-e8366711ff5e/scratchpad/deck/assets/scene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160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2 · 18:35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777240" y="4572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 вместо клавиатуры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Handy: ставим задачи со скоростью мысли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работает Handy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1920240"/>
            <a:ext cx="685800" cy="685800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6" name="Image 0" descr="/tmp/claude-0/-home-user-Salavat3476/1f57893f-24c3-5293-8814-e8366711ff5e/scratchpad/deck/assets/icon-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286" y="2105406"/>
            <a:ext cx="315468" cy="315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Зажмите горячую клавишу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60120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любой программе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379976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700016" y="1920240"/>
            <a:ext cx="685800" cy="68580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1" name="Image 1" descr="/tmp/claude-0/-home-user-Salavat3476/1f57893f-24c3-5293-8814-e8366711ff5e/scratchpad/deck/assets/icon-mic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182" y="2105406"/>
            <a:ext cx="315468" cy="3154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00016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Скажите мысль вслух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4700016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коллеге, без «компьютерного» языка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119872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439912" y="1920240"/>
            <a:ext cx="685800" cy="685800"/>
          </a:xfrm>
          <a:prstGeom prst="ellipse">
            <a:avLst/>
          </a:prstGeom>
          <a:solidFill>
            <a:srgbClr val="241C40"/>
          </a:solidFill>
          <a:ln/>
        </p:spPr>
      </p:sp>
      <p:pic>
        <p:nvPicPr>
          <p:cNvPr id="16" name="Image 2" descr="/tmp/claude-0/-home-user-Salavat3476/1f57893f-24c3-5293-8814-e8366711ff5e/scratchpad/deck/assets/icon-bolt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078" y="2105406"/>
            <a:ext cx="315468" cy="3154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39912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Текст уже в окне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8439912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почта, чат, документ — куда смотрите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Бесплатно · открытый код · работает локально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Практика: три задачи голосом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1920240"/>
            <a:ext cx="685800" cy="685800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6" name="Image 0" descr="/tmp/claude-0/-home-user-Salavat3476/1f57893f-24c3-5293-8814-e8366711ff5e/scratchpad/deck/assets/icon-mail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286" y="2105406"/>
            <a:ext cx="315468" cy="315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Письмо клиенту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60120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на реальный вопрос из вашей почты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379976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700016" y="1920240"/>
            <a:ext cx="685800" cy="68580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1" name="Image 1" descr="/tmp/claude-0/-home-user-Salavat3476/1f57893f-24c3-5293-8814-e8366711ff5e/scratchpad/deck/assets/icon-list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182" y="2105406"/>
            <a:ext cx="315468" cy="3154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00016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для агента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4700016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«сделай…» — по формуле из демо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119872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439912" y="1920240"/>
            <a:ext cx="685800" cy="685800"/>
          </a:xfrm>
          <a:prstGeom prst="ellipse">
            <a:avLst/>
          </a:prstGeom>
          <a:solidFill>
            <a:srgbClr val="241C40"/>
          </a:solidFill>
          <a:ln/>
        </p:spPr>
      </p:sp>
      <p:pic>
        <p:nvPicPr>
          <p:cNvPr id="16" name="Image 2" descr="/tmp/claude-0/-home-user-Salavat3476/1f57893f-24c3-5293-8814-e8366711ff5e/scratchpad/deck/assets/icon-pen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078" y="2105406"/>
            <a:ext cx="315468" cy="3154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39912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 для соцсетей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8439912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вашем продукте, 3 предложения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Правило: сначала мысль — потом клавиша.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0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lavat3476/1f57893f-24c3-5293-8814-e8366711ff5e/scratchpad/deck/assets/strip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0" y="5458968"/>
            <a:ext cx="12188952" cy="1399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103120"/>
            <a:ext cx="9811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Говорить — быстрее, чем печатать.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828800" y="411480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 — самый быстрый интерфейс между вами и агентом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lavat3476/1f57893f-24c3-5293-8814-e8366711ff5e/scratchpad/deck/assets/scene-pl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160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3 · 18:55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777240" y="4572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 — это ТЗ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 задачи, которую агент понимает с первого раза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 сильного промпта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6002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1920240"/>
            <a:ext cx="685800" cy="685800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6" name="Image 0" descr="/tmp/claude-0/-home-user-Salavat3476/1f57893f-24c3-5293-8814-e8366711ff5e/scratchpad/deck/assets/icon-user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286" y="2105406"/>
            <a:ext cx="315468" cy="315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7706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60120" y="34290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кем работает агент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474720" y="16002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794760" y="1920240"/>
            <a:ext cx="685800" cy="68580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1" name="Image 1" descr="/tmp/claude-0/-home-user-Salavat3476/1f57893f-24c3-5293-8814-e8366711ff5e/scratchpad/deck/assets/icon-target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926" y="2105406"/>
            <a:ext cx="315468" cy="3154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94760" y="27706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3794760" y="34290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сделать, глаголом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309360" y="16002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629400" y="1920240"/>
            <a:ext cx="685800" cy="685800"/>
          </a:xfrm>
          <a:prstGeom prst="ellipse">
            <a:avLst/>
          </a:prstGeom>
          <a:solidFill>
            <a:srgbClr val="241C40"/>
          </a:solidFill>
          <a:ln/>
        </p:spPr>
      </p:sp>
      <p:pic>
        <p:nvPicPr>
          <p:cNvPr id="16" name="Image 2" descr="/tmp/claude-0/-home-user-Salavat3476/1f57893f-24c3-5293-8814-e8366711ff5e/scratchpad/deck/assets/icon-share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566" y="2105406"/>
            <a:ext cx="315468" cy="3154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29400" y="27706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6629400" y="34290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знать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9144000" y="16002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9464040" y="1920240"/>
            <a:ext cx="685800" cy="685800"/>
          </a:xfrm>
          <a:prstGeom prst="ellipse">
            <a:avLst/>
          </a:prstGeom>
          <a:solidFill>
            <a:srgbClr val="8A5FBF"/>
          </a:solidFill>
          <a:ln/>
        </p:spPr>
      </p:sp>
      <p:pic>
        <p:nvPicPr>
          <p:cNvPr id="21" name="Image 3" descr="/tmp/claude-0/-home-user-Salavat3476/1f57893f-24c3-5293-8814-e8366711ff5e/scratchpad/deck/assets/icon-doc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206" y="2105406"/>
            <a:ext cx="315468" cy="3154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464040" y="27706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9464040" y="34290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выглядит результат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+ Задача + Контекст + Формат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Почувствуйте разницу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6002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3F2F6"/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19659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НЕ РАБОТАЕТ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6060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«Напиши пост»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05840" y="47548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гадает — вы получаете «воду».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91072" y="16002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FF0E6"/>
          </a:solidFill>
          <a:ln/>
        </p:spPr>
      </p:sp>
      <p:sp>
        <p:nvSpPr>
          <p:cNvPr id="9" name="Text 6"/>
          <p:cNvSpPr/>
          <p:nvPr/>
        </p:nvSpPr>
        <p:spPr>
          <a:xfrm>
            <a:off x="6656832" y="19659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РАБОТАЕТ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56832" y="260604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· Задача · Контекст · Формат —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четыре поля заполнены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656832" y="47548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попадает в цель с первого раза.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0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lavat3476/1f57893f-24c3-5293-8814-e8366711ff5e/scratchpad/deck/assets/strip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0" y="5458968"/>
            <a:ext cx="12188952" cy="1399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103120"/>
            <a:ext cx="9811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работает ровно настолько хорошо,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насколько поставлена задача.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lavat3476/1f57893f-24c3-5293-8814-e8366711ff5e/scratchpad/deck/assets/scene-sun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160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4 · 19:15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777240" y="4572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агент: отвечает клиентам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собираем автоответчик мечты — прямо сейчас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это выглядит у клиента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1920240"/>
            <a:ext cx="685800" cy="685800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6" name="Image 0" descr="/tmp/claude-0/-home-user-Salavat3476/1f57893f-24c3-5293-8814-e8366711ff5e/scratchpad/deck/assets/icon-cha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286" y="2105406"/>
            <a:ext cx="315468" cy="315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пишет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60120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любое время — хоть ночью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005072" y="2834640"/>
            <a:ext cx="429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4379976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00016" y="1920240"/>
            <a:ext cx="685800" cy="68580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2" name="Image 1" descr="/tmp/claude-0/-home-user-Salavat3476/1f57893f-24c3-5293-8814-e8366711ff5e/scratchpad/deck/assets/icon-robot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182" y="2105406"/>
            <a:ext cx="315468" cy="3154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0016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отвечает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700016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вашей базе знаний, в тоне бренда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744968" y="2834640"/>
            <a:ext cx="429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1"/>
          <p:cNvSpPr/>
          <p:nvPr/>
        </p:nvSpPr>
        <p:spPr>
          <a:xfrm>
            <a:off x="8119872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39912" y="1920240"/>
            <a:ext cx="685800" cy="685800"/>
          </a:xfrm>
          <a:prstGeom prst="ellipse">
            <a:avLst/>
          </a:prstGeom>
          <a:solidFill>
            <a:srgbClr val="241C40"/>
          </a:solidFill>
          <a:ln/>
        </p:spPr>
      </p:sp>
      <p:pic>
        <p:nvPicPr>
          <p:cNvPr id="18" name="Image 2" descr="/tmp/claude-0/-home-user-Salavat3476/1f57893f-24c3-5293-8814-e8366711ff5e/scratchpad/deck/assets/icon-hand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078" y="2105406"/>
            <a:ext cx="315468" cy="3154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39912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Сложное — человеку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439912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знает границы своих полномочий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получает ответ за секунды — всегда.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Собираем на ваших глазах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6002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1920240"/>
            <a:ext cx="685800" cy="685800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6" name="Image 0" descr="/tmp/claude-0/-home-user-Salavat3476/1f57893f-24c3-5293-8814-e8366711ff5e/scratchpad/deck/assets/icon-han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286" y="2105406"/>
            <a:ext cx="315468" cy="315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7706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Приветствие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60120" y="34290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фраза агента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474720" y="16002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794760" y="1920240"/>
            <a:ext cx="685800" cy="68580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1" name="Image 1" descr="/tmp/claude-0/-home-user-Salavat3476/1f57893f-24c3-5293-8814-e8366711ff5e/scratchpad/deck/assets/icon-list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926" y="2105406"/>
            <a:ext cx="315468" cy="3154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94760" y="27706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частых вопросов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3794760" y="34290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точные ответы на них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309360" y="16002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629400" y="1920240"/>
            <a:ext cx="685800" cy="685800"/>
          </a:xfrm>
          <a:prstGeom prst="ellipse">
            <a:avLst/>
          </a:prstGeom>
          <a:solidFill>
            <a:srgbClr val="241C40"/>
          </a:solidFill>
          <a:ln/>
        </p:spPr>
      </p:sp>
      <p:pic>
        <p:nvPicPr>
          <p:cNvPr id="16" name="Image 2" descr="/tmp/claude-0/-home-user-Salavat3476/1f57893f-24c3-5293-8814-e8366711ff5e/scratchpad/deck/assets/icon-pen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566" y="2105406"/>
            <a:ext cx="315468" cy="3154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29400" y="27706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Тон бренда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6629400" y="34290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звучит ваша компания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9144000" y="16002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9464040" y="1920240"/>
            <a:ext cx="685800" cy="685800"/>
          </a:xfrm>
          <a:prstGeom prst="ellipse">
            <a:avLst/>
          </a:prstGeom>
          <a:solidFill>
            <a:srgbClr val="8A5FBF"/>
          </a:solidFill>
          <a:ln/>
        </p:spPr>
      </p:sp>
      <p:pic>
        <p:nvPicPr>
          <p:cNvPr id="21" name="Image 3" descr="/tmp/claude-0/-home-user-Salavat3476/1f57893f-24c3-5293-8814-e8366711ff5e/scratchpad/deck/assets/icon-filter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206" y="2105406"/>
            <a:ext cx="315468" cy="3154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464040" y="27706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Стоп-темы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9464040" y="34290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агент передаёт человеку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шага — и агент выходит на смену.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lavat3476/1f57893f-24c3-5293-8814-e8366711ff5e/scratchpad/deck/assets/scene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389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ПЕРЕРЫВ · 15 МИНУТ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Возвращаемся в 19:50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lavat3476/1f57893f-24c3-5293-8814-e8366711ff5e/scratchpad/deck/assets/scene-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160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5 · 19:50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777240" y="4572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и отчёты за минуты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рутинные тексты больше не ваша работа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агент пишет за вас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6002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1920240"/>
            <a:ext cx="685800" cy="685800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6" name="Image 0" descr="/tmp/claude-0/-home-user-Salavat3476/1f57893f-24c3-5293-8814-e8366711ff5e/scratchpad/deck/assets/icon-doc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286" y="2105406"/>
            <a:ext cx="315468" cy="315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7706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Коммерческое предложение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60120" y="34290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 конкретного клиента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474720" y="16002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794760" y="1920240"/>
            <a:ext cx="685800" cy="68580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1" name="Image 1" descr="/tmp/claude-0/-home-user-Salavat3476/1f57893f-24c3-5293-8814-e8366711ff5e/scratchpad/deck/assets/icon-calc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926" y="2105406"/>
            <a:ext cx="315468" cy="3154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94760" y="27706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 за неделю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3794760" y="34290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ваших данных, по шаблону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309360" y="16002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629400" y="1920240"/>
            <a:ext cx="685800" cy="685800"/>
          </a:xfrm>
          <a:prstGeom prst="ellipse">
            <a:avLst/>
          </a:prstGeom>
          <a:solidFill>
            <a:srgbClr val="241C40"/>
          </a:solidFill>
          <a:ln/>
        </p:spPr>
      </p:sp>
      <p:pic>
        <p:nvPicPr>
          <p:cNvPr id="16" name="Image 2" descr="/tmp/claude-0/-home-user-Salavat3476/1f57893f-24c3-5293-8814-e8366711ff5e/scratchpad/deck/assets/icon-list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566" y="2105406"/>
            <a:ext cx="315468" cy="3154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29400" y="27706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 по шаблону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6629400" y="34290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подстановкой реквизитов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9144000" y="16002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9464040" y="1920240"/>
            <a:ext cx="685800" cy="685800"/>
          </a:xfrm>
          <a:prstGeom prst="ellipse">
            <a:avLst/>
          </a:prstGeom>
          <a:solidFill>
            <a:srgbClr val="8A5FBF"/>
          </a:solidFill>
          <a:ln/>
        </p:spPr>
      </p:sp>
      <p:pic>
        <p:nvPicPr>
          <p:cNvPr id="21" name="Image 3" descr="/tmp/claude-0/-home-user-Salavat3476/1f57893f-24c3-5293-8814-e8366711ff5e/scratchpad/deck/assets/icon-mail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206" y="2105406"/>
            <a:ext cx="315468" cy="3154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464040" y="27706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Рассылка клиентам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9464040" y="34290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тоне бренда, без «воды»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Черновик — за минуты. Вам остаётся проверить и отправить.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50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lavat3476/1f57893f-24c3-5293-8814-e8366711ff5e/scratchpad/deck/assets/strip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0" y="5458968"/>
            <a:ext cx="12188952" cy="1399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103120"/>
            <a:ext cx="9811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Минуты — вместо часов.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828800" y="411480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формулировка из вашего же приглашения: «за минуты, а не за часы»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lavat3476/1f57893f-24c3-5293-8814-e8366711ff5e/scratchpad/deck/assets/scene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160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6 · 20:10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777240" y="4572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 и CRM — без ручного ввода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как идеальный операционист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заявки без человека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1920240"/>
            <a:ext cx="685800" cy="685800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6" name="Image 0" descr="/tmp/claude-0/-home-user-Salavat3476/1f57893f-24c3-5293-8814-e8366711ff5e/scratchpad/deck/assets/icon-shar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286" y="2105406"/>
            <a:ext cx="315468" cy="315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 из любого канала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60120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мессенджер, сайт, почта, звонок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005072" y="2834640"/>
            <a:ext cx="429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4379976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00016" y="1920240"/>
            <a:ext cx="685800" cy="68580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2" name="Image 1" descr="/tmp/claude-0/-home-user-Salavat3476/1f57893f-24c3-5293-8814-e8366711ff5e/scratchpad/deck/assets/icon-db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182" y="2105406"/>
            <a:ext cx="315468" cy="3154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0016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вносит в CRM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700016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поля, без опечаток, сразу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744968" y="2834640"/>
            <a:ext cx="429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1"/>
          <p:cNvSpPr/>
          <p:nvPr/>
        </p:nvSpPr>
        <p:spPr>
          <a:xfrm>
            <a:off x="8119872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39912" y="1920240"/>
            <a:ext cx="685800" cy="685800"/>
          </a:xfrm>
          <a:prstGeom prst="ellipse">
            <a:avLst/>
          </a:prstGeom>
          <a:solidFill>
            <a:srgbClr val="241C40"/>
          </a:solidFill>
          <a:ln/>
        </p:spPr>
      </p:sp>
      <p:pic>
        <p:nvPicPr>
          <p:cNvPr id="18" name="Image 2" descr="/tmp/claude-0/-home-user-Salavat3476/1f57893f-24c3-5293-8814-e8366711ff5e/scratchpad/deck/assets/icon-bell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078" y="2105406"/>
            <a:ext cx="315468" cy="3154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39912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Менеджеру — напоминание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439912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кто, о чём и когда перезвонить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ничего не переносит руками.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50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lavat3476/1f57893f-24c3-5293-8814-e8366711ff5e/scratchpad/deck/assets/strip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0" y="5458968"/>
            <a:ext cx="12188952" cy="1399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103120"/>
            <a:ext cx="9811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 одна заявка не теряется.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828800" y="411480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доходит до CRM и до менеджера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lavat3476/1f57893f-24c3-5293-8814-e8366711ff5e/scratchpad/deck/assets/scene-pl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160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7 · 20:30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777240" y="4572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план внедрения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автоматизировать первым — и сколько это сэкономит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автоматизировать первым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1920240"/>
            <a:ext cx="685800" cy="685800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6" name="Image 0" descr="/tmp/claude-0/-home-user-Salavat3476/1f57893f-24c3-5293-8814-e8366711ff5e/scratchpad/deck/assets/icon-clock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286" y="2105406"/>
            <a:ext cx="315468" cy="315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Повторяется каждый день?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60120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рутина — лучший кандидат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379976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700016" y="1920240"/>
            <a:ext cx="685800" cy="68580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1" name="Image 1" descr="/tmp/claude-0/-home-user-Salavat3476/1f57893f-24c3-5293-8814-e8366711ff5e/scratchpad/deck/assets/icon-bolt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182" y="2105406"/>
            <a:ext cx="315468" cy="3154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00016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Съедает часы?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4700016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дороже процесс, тем быстрее окупится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119872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439912" y="1920240"/>
            <a:ext cx="685800" cy="685800"/>
          </a:xfrm>
          <a:prstGeom prst="ellipse">
            <a:avLst/>
          </a:prstGeom>
          <a:solidFill>
            <a:srgbClr val="241C40"/>
          </a:solidFill>
          <a:ln/>
        </p:spPr>
      </p:sp>
      <p:pic>
        <p:nvPicPr>
          <p:cNvPr id="16" name="Image 2" descr="/tmp/claude-0/-home-user-Salavat3476/1f57893f-24c3-5293-8814-e8366711ff5e/scratchpad/deck/assets/icon-list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078" y="2105406"/>
            <a:ext cx="315468" cy="3154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39912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чёткий шаблон?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8439912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понятные правила = лёгкий старт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«да» — это ваш первый агент.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Считаем экономию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210312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F5F3F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2377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часы в неделю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2960" y="29260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этот процесс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29000" y="210312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F5F3FB"/>
          </a:solidFill>
          <a:ln/>
        </p:spPr>
      </p:sp>
      <p:sp>
        <p:nvSpPr>
          <p:cNvPr id="8" name="Text 5"/>
          <p:cNvSpPr/>
          <p:nvPr/>
        </p:nvSpPr>
        <p:spPr>
          <a:xfrm>
            <a:off x="3611880" y="2377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ставка в час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611880" y="29260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210312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F5F3FB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2377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4 недели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915400" y="2514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9464040" y="2103120"/>
            <a:ext cx="2084832" cy="1554480"/>
          </a:xfrm>
          <a:prstGeom prst="roundRect">
            <a:avLst>
              <a:gd name="adj" fmla="val 7059"/>
            </a:avLst>
          </a:prstGeom>
          <a:solidFill>
            <a:srgbClr val="FFF0E6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0" y="2395728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экономия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месяц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0080" y="45720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Подставьте свои цифры — прямо сейчас.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забираете сегодня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6002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1920240"/>
            <a:ext cx="685800" cy="685800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6" name="Image 0" descr="/tmp/claude-0/-home-user-Salavat3476/1f57893f-24c3-5293-8814-e8366711ff5e/scratchpad/deck/assets/icon-mic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286" y="2105406"/>
            <a:ext cx="315468" cy="315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7706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Навык голосового ввода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60120" y="34290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Handy настроен и работает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474720" y="16002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794760" y="1920240"/>
            <a:ext cx="685800" cy="68580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1" name="Image 1" descr="/tmp/claude-0/-home-user-Salavat3476/1f57893f-24c3-5293-8814-e8366711ff5e/scratchpad/deck/assets/icon-wand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926" y="2105406"/>
            <a:ext cx="315468" cy="3154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94760" y="27706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Формулу промпта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3794760" y="34290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· Задача · Контекст · Формат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309360" y="16002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629400" y="1920240"/>
            <a:ext cx="685800" cy="685800"/>
          </a:xfrm>
          <a:prstGeom prst="ellipse">
            <a:avLst/>
          </a:prstGeom>
          <a:solidFill>
            <a:srgbClr val="241C40"/>
          </a:solidFill>
          <a:ln/>
        </p:spPr>
      </p:sp>
      <p:pic>
        <p:nvPicPr>
          <p:cNvPr id="16" name="Image 2" descr="/tmp/claude-0/-home-user-Salavat3476/1f57893f-24c3-5293-8814-e8366711ff5e/scratchpad/deck/assets/icon-robot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566" y="2105406"/>
            <a:ext cx="315468" cy="3154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29400" y="27706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Первого агента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6629400" y="34290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отвечает клиентам уже сегодня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9144000" y="16002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9464040" y="1920240"/>
            <a:ext cx="685800" cy="685800"/>
          </a:xfrm>
          <a:prstGeom prst="ellipse">
            <a:avLst/>
          </a:prstGeom>
          <a:solidFill>
            <a:srgbClr val="8A5FBF"/>
          </a:solidFill>
          <a:ln/>
        </p:spPr>
      </p:sp>
      <p:pic>
        <p:nvPicPr>
          <p:cNvPr id="21" name="Image 3" descr="/tmp/claude-0/-home-user-Salavat3476/1f57893f-24c3-5293-8814-e8366711ff5e/scratchpad/deck/assets/icon-targe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206" y="2105406"/>
            <a:ext cx="315468" cy="3154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464040" y="27706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внедрения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9464040" y="34290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выбран, экономия посчитана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Домашнее задание — до завтра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1920240"/>
            <a:ext cx="685800" cy="685800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6" name="Image 0" descr="/tmp/claude-0/-home-user-Salavat3476/1f57893f-24c3-5293-8814-e8366711ff5e/scratchpad/deck/assets/icon-mic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286" y="2105406"/>
            <a:ext cx="315468" cy="315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Надиктуйте три задачи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60120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Handy — любые рабочие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379976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700016" y="1920240"/>
            <a:ext cx="685800" cy="68580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1" name="Image 1" descr="/tmp/claude-0/-home-user-Salavat3476/1f57893f-24c3-5293-8814-e8366711ff5e/scratchpad/deck/assets/icon-wand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182" y="2105406"/>
            <a:ext cx="315468" cy="3154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00016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Один промпт по формуле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4700016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самой частой вашей задачи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119872" y="1600200"/>
            <a:ext cx="3419856" cy="3200400"/>
          </a:xfrm>
          <a:prstGeom prst="roundRect">
            <a:avLst>
              <a:gd name="adj" fmla="val 3429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A2E5F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439912" y="1920240"/>
            <a:ext cx="685800" cy="685800"/>
          </a:xfrm>
          <a:prstGeom prst="ellipse">
            <a:avLst/>
          </a:prstGeom>
          <a:solidFill>
            <a:srgbClr val="241C40"/>
          </a:solidFill>
          <a:ln/>
        </p:spPr>
      </p:sp>
      <p:pic>
        <p:nvPicPr>
          <p:cNvPr id="16" name="Image 2" descr="/tmp/claude-0/-home-user-Salavat3476/1f57893f-24c3-5293-8814-e8366711ff5e/scratchpad/deck/assets/icon-filter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078" y="2105406"/>
            <a:ext cx="315468" cy="3154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39912" y="2770632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Выберите процесс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8439912" y="3429000"/>
            <a:ext cx="2779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который отдадите агенту первым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2 — завтра в 18:00. Продолжаем строить.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lavat3476/1f57893f-24c3-5293-8814-e8366711ff5e/scratchpad/deck/assets/scene-sun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389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1 — ПРОЙДЕН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цифровой сотрудник уже на смене.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Цифровой сотрудник — День 1</dc:title>
  <dc:subject>PptxGenJS Presentation</dc:subject>
  <dc:creator>Салават</dc:creator>
  <cp:lastModifiedBy>Салават</cp:lastModifiedBy>
  <cp:revision>1</cp:revision>
  <dcterms:created xsi:type="dcterms:W3CDTF">2026-07-30T17:23:44Z</dcterms:created>
  <dcterms:modified xsi:type="dcterms:W3CDTF">2026-07-30T17:23:44Z</dcterms:modified>
</cp:coreProperties>
</file>